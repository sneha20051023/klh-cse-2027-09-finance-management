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Lst>
  <p:notesMasterIdLst>
    <p:notesMasterId r:id="rId20"/>
  </p:notesMasterIdLst>
  <p:handoutMasterIdLst>
    <p:handoutMasterId r:id="rId21"/>
  </p:handoutMasterIdLst>
  <p:sldIdLst>
    <p:sldId id="338" r:id="rId3"/>
    <p:sldId id="322" r:id="rId4"/>
    <p:sldId id="351" r:id="rId5"/>
    <p:sldId id="357" r:id="rId6"/>
    <p:sldId id="350" r:id="rId7"/>
    <p:sldId id="256" r:id="rId8"/>
    <p:sldId id="257" r:id="rId9"/>
    <p:sldId id="258" r:id="rId10"/>
    <p:sldId id="359" r:id="rId11"/>
    <p:sldId id="360" r:id="rId12"/>
    <p:sldId id="361" r:id="rId13"/>
    <p:sldId id="354" r:id="rId14"/>
    <p:sldId id="358" r:id="rId15"/>
    <p:sldId id="362" r:id="rId16"/>
    <p:sldId id="355" r:id="rId17"/>
    <p:sldId id="356" r:id="rId18"/>
    <p:sldId id="332" r:id="rId19"/>
  </p:sldIdLst>
  <p:sldSz cx="12192000" cy="6858000"/>
  <p:notesSz cx="7102475" cy="9037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58"/>
    <p:restoredTop sz="95833"/>
  </p:normalViewPr>
  <p:slideViewPr>
    <p:cSldViewPr snapToGrid="0" snapToObjects="1">
      <p:cViewPr varScale="1">
        <p:scale>
          <a:sx n="78" d="100"/>
          <a:sy n="78" d="100"/>
        </p:scale>
        <p:origin x="730"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023092" y="0"/>
            <a:ext cx="3077739" cy="453451"/>
          </a:xfrm>
          <a:prstGeom prst="rect">
            <a:avLst/>
          </a:prstGeom>
        </p:spPr>
        <p:txBody>
          <a:bodyPr vert="horz" lIns="91440" tIns="45720" rIns="91440" bIns="45720" rtlCol="0"/>
          <a:lstStyle>
            <a:lvl1pPr algn="r">
              <a:defRPr sz="1200"/>
            </a:lvl1pPr>
          </a:lstStyle>
          <a:p>
            <a:fld id="{469F6064-4237-BA4C-A655-B64A9E0DF723}" type="datetimeFigureOut">
              <a:rPr lang="en-US" smtClean="0"/>
              <a:t>8/22/2026</a:t>
            </a:fld>
            <a:endParaRPr lang="en-US"/>
          </a:p>
        </p:txBody>
      </p:sp>
      <p:sp>
        <p:nvSpPr>
          <p:cNvPr id="4" name="Footer Placeholder 3"/>
          <p:cNvSpPr>
            <a:spLocks noGrp="1"/>
          </p:cNvSpPr>
          <p:nvPr>
            <p:ph type="ftr" sz="quarter" idx="2"/>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023092" y="8584188"/>
            <a:ext cx="3077739" cy="453450"/>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p:cNvPicPr>
            <a:picLocks noChangeAspect="1"/>
          </p:cNvPicPr>
          <p:nvPr/>
        </p:nvPicPr>
        <p:blipFill>
          <a:blip r:embed="rId2"/>
          <a:stretch>
            <a:fillRect/>
          </a:stretch>
        </p:blipFill>
        <p:spPr>
          <a:xfrm>
            <a:off x="0" y="0"/>
            <a:ext cx="1156171" cy="453451"/>
          </a:xfrm>
          <a:prstGeom prst="rect">
            <a:avLst/>
          </a:prstGeom>
        </p:spPr>
      </p:pic>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8/22/2026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22-08-2026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22-08-2026</a:t>
            </a:fld>
            <a:endParaRPr lang="en-US"/>
          </a:p>
        </p:txBody>
      </p:sp>
      <p:sp>
        <p:nvSpPr>
          <p:cNvPr id="5" name="Footer Placeholder 4"/>
          <p:cNvSpPr>
            <a:spLocks noGrp="1"/>
          </p:cNvSpPr>
          <p:nvPr>
            <p:ph type="ftr" sz="quarter" idx="11"/>
          </p:nvPr>
        </p:nvSpPr>
        <p:spPr/>
        <p:txBody>
          <a:bodyPr/>
          <a:lstStyle/>
          <a:p>
            <a:r>
              <a:rPr lang="en-US" dirty="0"/>
              <a:t>REVIEW – 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22-08-2026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22-08-2026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22-08-2026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22-08-2026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22-08-2026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22-08-2026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22-08-2026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22-08-2026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22-08-2026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22-08-2026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22-08-2026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22-08-2026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22-08-2026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22-08-2026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22-08-2026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REVIEW – 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22-08-2026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319609" y="595713"/>
            <a:ext cx="10515600" cy="1100826"/>
          </a:xfrm>
        </p:spPr>
        <p:txBody>
          <a:bodyPr>
            <a:noAutofit/>
          </a:bodyPr>
          <a:lstStyle/>
          <a:p>
            <a:pPr algn="ctr"/>
            <a:r>
              <a:rPr lang="da-DK" sz="2400" b="1" dirty="0">
                <a:solidFill>
                  <a:srgbClr val="FF0000"/>
                </a:solidFill>
                <a:latin typeface="Times New Roman" panose="02020603050405020304" pitchFamily="18" charset="0"/>
                <a:cs typeface="Times New Roman" panose="02020603050405020304" pitchFamily="18" charset="0"/>
              </a:rPr>
              <a:t>ENGINEERING CAPSTONE PROJECT – 1/INDUSTRIAL INTERNSHIP/ INDUSTRIAL INTERNSHIP PHASE-I</a:t>
            </a:r>
            <a:br>
              <a:rPr lang="da-DK" sz="2400" b="1" dirty="0">
                <a:latin typeface="Times New Roman" panose="02020603050405020304" pitchFamily="18" charset="0"/>
                <a:cs typeface="Times New Roman" panose="02020603050405020304" pitchFamily="18" charset="0"/>
              </a:rPr>
            </a:br>
            <a:r>
              <a:rPr lang="da-DK" sz="2400" b="1" dirty="0">
                <a:solidFill>
                  <a:srgbClr val="0070C0"/>
                </a:solidFill>
                <a:latin typeface="Times New Roman" panose="02020603050405020304" pitchFamily="18" charset="0"/>
                <a:cs typeface="Times New Roman" panose="02020603050405020304" pitchFamily="18" charset="0"/>
              </a:rPr>
              <a:t>Project Review-1</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IN" sz="2400" b="1" dirty="0"/>
              <a:t>An Extensible Personal Finance Management Framework for Expense Tracking, Visual Analytics, and Intelligent Decision Support</a:t>
            </a:r>
            <a:br>
              <a:rPr lang="en-IN" sz="2400" dirty="0"/>
            </a:br>
            <a:endParaRPr lang="en-US" altLang="en-US" sz="2400"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112248" y="2265079"/>
            <a:ext cx="9811392" cy="1046857"/>
          </a:xfrm>
        </p:spPr>
        <p:txBody>
          <a:bodyPr>
            <a:noAutofit/>
          </a:bodyPr>
          <a:lstStyle/>
          <a:p>
            <a:pPr marL="0" indent="0" algn="ctr">
              <a:buNone/>
            </a:pPr>
            <a:r>
              <a:rPr lang="en-IN" sz="2000" b="1" dirty="0"/>
              <a:t>Team No-09</a:t>
            </a:r>
          </a:p>
          <a:p>
            <a:pPr marL="0" indent="0" algn="ctr">
              <a:buNone/>
            </a:pPr>
            <a:r>
              <a:rPr lang="en-US" sz="2000" b="1" dirty="0"/>
              <a:t>2320030368           Sneha Mithra</a:t>
            </a:r>
          </a:p>
          <a:p>
            <a:pPr marL="0" indent="0" algn="ctr">
              <a:buNone/>
            </a:pPr>
            <a:r>
              <a:rPr lang="en-IN" sz="2000" b="1" dirty="0"/>
              <a:t>2320030247	Likhita </a:t>
            </a:r>
            <a:r>
              <a:rPr lang="en-IN" sz="2000" b="1" dirty="0" err="1"/>
              <a:t>Yegalla</a:t>
            </a:r>
            <a:endParaRPr lang="en-US" sz="2000" b="1" dirty="0"/>
          </a:p>
          <a:p>
            <a:pPr marL="0" indent="0" algn="ctr">
              <a:buNone/>
            </a:pPr>
            <a:r>
              <a:rPr lang="en-US" sz="2000" b="1" dirty="0"/>
              <a:t>2320030367             Sai Akshaya</a:t>
            </a:r>
          </a:p>
          <a:p>
            <a:pPr marL="0" indent="0" algn="ctr">
              <a:buNone/>
            </a:pP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22-08-2026</a:t>
            </a:fld>
            <a:endParaRPr lang="en-US"/>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838200" y="3836201"/>
            <a:ext cx="10515600" cy="1225295"/>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rgbClr val="00B050"/>
                </a:solidFill>
              </a:rPr>
              <a:t>         </a:t>
            </a:r>
          </a:p>
          <a:p>
            <a:pPr marL="0" indent="0" algn="ctr">
              <a:buNone/>
            </a:pPr>
            <a:r>
              <a:rPr lang="en-US" sz="5600" dirty="0">
                <a:solidFill>
                  <a:srgbClr val="00B050"/>
                </a:solidFill>
              </a:rPr>
              <a:t>Under the Guidance of</a:t>
            </a:r>
          </a:p>
          <a:p>
            <a:pPr marL="0" indent="0" algn="ctr">
              <a:buNone/>
            </a:pPr>
            <a:r>
              <a:rPr lang="en-US" sz="5600" dirty="0">
                <a:solidFill>
                  <a:srgbClr val="00B050"/>
                </a:solidFill>
              </a:rPr>
              <a:t>Dr K Swapnika</a:t>
            </a:r>
          </a:p>
          <a:p>
            <a:pPr marL="0" indent="0" algn="ctr">
              <a:buNone/>
            </a:pPr>
            <a:r>
              <a:rPr lang="en-US" sz="56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2395" y="5136862"/>
            <a:ext cx="2175809" cy="897941"/>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250731"/>
            <a:ext cx="10515600" cy="5002923"/>
          </a:xfrm>
        </p:spPr>
        <p:txBody>
          <a:bodyPr>
            <a:normAutofit/>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Problem Statement</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Objectives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Literature Survey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Research Gap Identification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Innovation, Creativity, and Novelty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Feasibility and Project Plan</a:t>
            </a: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22-08-2026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PRC-I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406013"/>
            <a:ext cx="10515600" cy="4857068"/>
          </a:xfrm>
        </p:spPr>
        <p:txBody>
          <a:bodyPr>
            <a:normAutofit/>
          </a:bodyPr>
          <a:lstStyle/>
          <a:p>
            <a:r>
              <a:rPr lang="en-IN" sz="2000" dirty="0"/>
              <a:t>Managing our day-to-day expenses can be confusing because we use different ways to make payments, such as UPI, cards, cash, shopping, and subscriptions. While existing finance apps help us record these expenses, they mostly tell us how much we spent, but not always where we are overspending or what we can do better.</a:t>
            </a:r>
          </a:p>
          <a:p>
            <a:r>
              <a:rPr lang="en-IN" sz="2000" dirty="0"/>
              <a:t>To solve this, our project focuses on </a:t>
            </a:r>
            <a:r>
              <a:rPr lang="en-IN" sz="2000" dirty="0" err="1"/>
              <a:t>analyzing</a:t>
            </a:r>
            <a:r>
              <a:rPr lang="en-IN" sz="2000" dirty="0"/>
              <a:t> spending patterns, presenting expenses through simple visual dashboards, and giving personalized insights and alerts. This helps users understand their financial habits instead of just recording transactions.</a:t>
            </a:r>
          </a:p>
          <a:p>
            <a:r>
              <a:rPr lang="en-IN" sz="2000" dirty="0"/>
              <a:t>Our project, “An Extensible Personal Finance Management Framework for Expense Tracking, Visual Analytics, and Intelligent Decision Support,” brings all these features together in one system, while keeping it flexible enough to add more financial features in the future.</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22-08-2026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01159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24174-E81B-4768-8B99-C41881EF5EA4}"/>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Problem Statement</a:t>
            </a:r>
            <a:endParaRPr lang="en-IN" dirty="0"/>
          </a:p>
        </p:txBody>
      </p:sp>
      <p:sp>
        <p:nvSpPr>
          <p:cNvPr id="3" name="Content Placeholder 2">
            <a:extLst>
              <a:ext uri="{FF2B5EF4-FFF2-40B4-BE49-F238E27FC236}">
                <a16:creationId xmlns:a16="http://schemas.microsoft.com/office/drawing/2014/main" id="{54E84203-8F93-4071-A37C-6A9C3BB16CA1}"/>
              </a:ext>
            </a:extLst>
          </p:cNvPr>
          <p:cNvSpPr>
            <a:spLocks noGrp="1"/>
          </p:cNvSpPr>
          <p:nvPr>
            <p:ph idx="1"/>
          </p:nvPr>
        </p:nvSpPr>
        <p:spPr/>
        <p:txBody>
          <a:bodyPr>
            <a:normAutofit/>
          </a:bodyPr>
          <a:lstStyle/>
          <a:p>
            <a:r>
              <a:rPr lang="en-IN" sz="2400" dirty="0"/>
              <a:t>Existing personal finance systems mainly focus on recording and displaying expenses, with limited spending analysis and personalized guidance. There is a need for an integrated and extensible framework that can track expenses, </a:t>
            </a:r>
            <a:r>
              <a:rPr lang="en-IN" sz="2400" dirty="0" err="1"/>
              <a:t>analyze</a:t>
            </a:r>
            <a:r>
              <a:rPr lang="en-IN" sz="2400" dirty="0"/>
              <a:t> spending patterns, provide visual insights and support personalized financial decision-making. Our solution transforms a basic expense tracker into an intelligent financial management framework that helps users not just record their expenses, but understand their spending and make better financial decisions.</a:t>
            </a:r>
          </a:p>
          <a:p>
            <a:pPr marL="0" indent="0">
              <a:buNone/>
            </a:pPr>
            <a:endParaRPr lang="en-IN" dirty="0"/>
          </a:p>
        </p:txBody>
      </p:sp>
      <p:sp>
        <p:nvSpPr>
          <p:cNvPr id="4" name="Date Placeholder 3">
            <a:extLst>
              <a:ext uri="{FF2B5EF4-FFF2-40B4-BE49-F238E27FC236}">
                <a16:creationId xmlns:a16="http://schemas.microsoft.com/office/drawing/2014/main" id="{0D185FB1-B28D-4C1B-A7FA-1B6AE4E26B08}"/>
              </a:ext>
            </a:extLst>
          </p:cNvPr>
          <p:cNvSpPr>
            <a:spLocks noGrp="1"/>
          </p:cNvSpPr>
          <p:nvPr>
            <p:ph type="dt" sz="half" idx="10"/>
          </p:nvPr>
        </p:nvSpPr>
        <p:spPr>
          <a:xfrm>
            <a:off x="838200" y="6365777"/>
            <a:ext cx="2743200" cy="365125"/>
          </a:xfrm>
        </p:spPr>
        <p:txBody>
          <a:bodyPr/>
          <a:lstStyle/>
          <a:p>
            <a:fld id="{C7A4DE8B-8D6B-8C46-B882-6A2CD2BC96F0}" type="datetime1">
              <a:rPr lang="en-IN" smtClean="0"/>
              <a:t>22-08-2026</a:t>
            </a:fld>
            <a:endParaRPr lang="en-US"/>
          </a:p>
        </p:txBody>
      </p:sp>
      <p:sp>
        <p:nvSpPr>
          <p:cNvPr id="6" name="Slide Number Placeholder 5">
            <a:extLst>
              <a:ext uri="{FF2B5EF4-FFF2-40B4-BE49-F238E27FC236}">
                <a16:creationId xmlns:a16="http://schemas.microsoft.com/office/drawing/2014/main" id="{52C09634-64A3-451F-B3E1-F9F54FC12B45}"/>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7" name="Footer Placeholder 2">
            <a:extLst>
              <a:ext uri="{FF2B5EF4-FFF2-40B4-BE49-F238E27FC236}">
                <a16:creationId xmlns:a16="http://schemas.microsoft.com/office/drawing/2014/main" id="{D9CC9555-106F-46B4-BA3D-25EA6B87723C}"/>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1103198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9" name="Content Placeholder 8">
            <a:extLst>
              <a:ext uri="{FF2B5EF4-FFF2-40B4-BE49-F238E27FC236}">
                <a16:creationId xmlns:a16="http://schemas.microsoft.com/office/drawing/2014/main" id="{207DCC41-9625-D8BE-ED8E-A41DE68AA126}"/>
              </a:ext>
            </a:extLst>
          </p:cNvPr>
          <p:cNvSpPr>
            <a:spLocks noGrp="1"/>
          </p:cNvSpPr>
          <p:nvPr>
            <p:ph idx="1"/>
          </p:nvPr>
        </p:nvSpPr>
        <p:spPr>
          <a:xfrm>
            <a:off x="907026" y="1720586"/>
            <a:ext cx="10515600" cy="5002923"/>
          </a:xfrm>
        </p:spPr>
        <p:txBody>
          <a:bodyPr>
            <a:normAutofit/>
          </a:bodyPr>
          <a:lstStyle/>
          <a:p>
            <a:pPr>
              <a:buFont typeface="Wingdings" panose="05000000000000000000" pitchFamily="2" charset="2"/>
              <a:buChar char="Ø"/>
            </a:pPr>
            <a:r>
              <a:rPr lang="en-IN" sz="2000" dirty="0"/>
              <a:t>To develop a user-friendly framework for systematic income and expense tracking.</a:t>
            </a:r>
          </a:p>
          <a:p>
            <a:pPr>
              <a:buFont typeface="Wingdings" panose="05000000000000000000" pitchFamily="2" charset="2"/>
              <a:buChar char="Ø"/>
            </a:pPr>
            <a:r>
              <a:rPr lang="en-IN" sz="2000" dirty="0"/>
              <a:t>To integrate visual analytics and spending-pattern analysis for meaningful financial insights.</a:t>
            </a:r>
          </a:p>
          <a:p>
            <a:pPr>
              <a:buFont typeface="Wingdings" panose="05000000000000000000" pitchFamily="2" charset="2"/>
              <a:buChar char="Ø"/>
            </a:pPr>
            <a:r>
              <a:rPr lang="en-IN" sz="2000" dirty="0"/>
              <a:t> To enhance traditional expense tracking with personalized budgeting, alerts, and intelligent decision support.</a:t>
            </a:r>
          </a:p>
          <a:p>
            <a:pPr>
              <a:buFont typeface="Wingdings" panose="05000000000000000000" pitchFamily="2" charset="2"/>
              <a:buChar char="Ø"/>
            </a:pPr>
            <a:r>
              <a:rPr lang="en-IN" sz="2000" dirty="0"/>
              <a:t> To develop an extensible modular architecture for incorporating future financial analytics and recommendation features.</a:t>
            </a:r>
          </a:p>
          <a:p>
            <a:pPr>
              <a:buFont typeface="Wingdings" panose="05000000000000000000" pitchFamily="2" charset="2"/>
              <a:buChar char="Ø"/>
            </a:pPr>
            <a:r>
              <a:rPr lang="en-IN" sz="2000" dirty="0"/>
              <a:t> To evaluate the proposed framework based on usability, analytical accuracy, visualization effectiveness, and usefulness of financial insights.</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22-08-2026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53D0FDF3-DB89-46A2-B389-76810F8CAAF1}"/>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4008404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137160"/>
            <a:ext cx="11521440" cy="502920"/>
          </a:xfrm>
          <a:prstGeom prst="rect">
            <a:avLst/>
          </a:prstGeom>
          <a:noFill/>
        </p:spPr>
        <p:txBody>
          <a:bodyPr wrap="none">
            <a:spAutoFit/>
          </a:bodyPr>
          <a:lstStyle/>
          <a:p>
            <a:pPr algn="ctr"/>
            <a:r>
              <a:rPr sz="2800" b="1">
                <a:latin typeface="Arial"/>
              </a:rPr>
              <a:t>Literature Survey</a:t>
            </a:r>
          </a:p>
        </p:txBody>
      </p:sp>
      <p:sp>
        <p:nvSpPr>
          <p:cNvPr id="3" name="TextBox 2"/>
          <p:cNvSpPr txBox="1"/>
          <p:nvPr/>
        </p:nvSpPr>
        <p:spPr>
          <a:xfrm>
            <a:off x="320040" y="621792"/>
            <a:ext cx="11521440" cy="256032"/>
          </a:xfrm>
          <a:prstGeom prst="rect">
            <a:avLst/>
          </a:prstGeom>
          <a:noFill/>
        </p:spPr>
        <p:txBody>
          <a:bodyPr wrap="none">
            <a:spAutoFit/>
          </a:bodyPr>
          <a:lstStyle/>
          <a:p>
            <a:pPr algn="ctr"/>
            <a:r>
              <a:rPr sz="900" i="1">
                <a:latin typeface="Arial"/>
              </a:rPr>
              <a:t>Relevant studies — Papers 1–5</a:t>
            </a:r>
          </a:p>
        </p:txBody>
      </p:sp>
      <p:graphicFrame>
        <p:nvGraphicFramePr>
          <p:cNvPr id="4" name="Table 3"/>
          <p:cNvGraphicFramePr>
            <a:graphicFrameLocks noGrp="1"/>
          </p:cNvGraphicFramePr>
          <p:nvPr/>
        </p:nvGraphicFramePr>
        <p:xfrm>
          <a:off x="164591" y="932688"/>
          <a:ext cx="12026649" cy="5455920"/>
        </p:xfrm>
        <a:graphic>
          <a:graphicData uri="http://schemas.openxmlformats.org/drawingml/2006/table">
            <a:tbl>
              <a:tblPr firstRow="1" bandRow="1">
                <a:tableStyleId>{073A0DAA-6AF3-43AB-8588-CEC1D06C72B9}</a:tableStyleId>
              </a:tblPr>
              <a:tblGrid>
                <a:gridCol w="541655">
                  <a:extLst>
                    <a:ext uri="{9D8B030D-6E8A-4147-A177-3AD203B41FA5}">
                      <a16:colId xmlns:a16="http://schemas.microsoft.com/office/drawing/2014/main" val="20000"/>
                    </a:ext>
                  </a:extLst>
                </a:gridCol>
                <a:gridCol w="469841">
                  <a:extLst>
                    <a:ext uri="{9D8B030D-6E8A-4147-A177-3AD203B41FA5}">
                      <a16:colId xmlns:a16="http://schemas.microsoft.com/office/drawing/2014/main" val="20001"/>
                    </a:ext>
                  </a:extLst>
                </a:gridCol>
                <a:gridCol w="939681">
                  <a:extLst>
                    <a:ext uri="{9D8B030D-6E8A-4147-A177-3AD203B41FA5}">
                      <a16:colId xmlns:a16="http://schemas.microsoft.com/office/drawing/2014/main" val="20002"/>
                    </a:ext>
                  </a:extLst>
                </a:gridCol>
                <a:gridCol w="1618340">
                  <a:extLst>
                    <a:ext uri="{9D8B030D-6E8A-4147-A177-3AD203B41FA5}">
                      <a16:colId xmlns:a16="http://schemas.microsoft.com/office/drawing/2014/main" val="20003"/>
                    </a:ext>
                  </a:extLst>
                </a:gridCol>
                <a:gridCol w="1096295">
                  <a:extLst>
                    <a:ext uri="{9D8B030D-6E8A-4147-A177-3AD203B41FA5}">
                      <a16:colId xmlns:a16="http://schemas.microsoft.com/office/drawing/2014/main" val="20004"/>
                    </a:ext>
                  </a:extLst>
                </a:gridCol>
                <a:gridCol w="1200704">
                  <a:extLst>
                    <a:ext uri="{9D8B030D-6E8A-4147-A177-3AD203B41FA5}">
                      <a16:colId xmlns:a16="http://schemas.microsoft.com/office/drawing/2014/main" val="20005"/>
                    </a:ext>
                  </a:extLst>
                </a:gridCol>
                <a:gridCol w="991886">
                  <a:extLst>
                    <a:ext uri="{9D8B030D-6E8A-4147-A177-3AD203B41FA5}">
                      <a16:colId xmlns:a16="http://schemas.microsoft.com/office/drawing/2014/main" val="20006"/>
                    </a:ext>
                  </a:extLst>
                </a:gridCol>
                <a:gridCol w="835272">
                  <a:extLst>
                    <a:ext uri="{9D8B030D-6E8A-4147-A177-3AD203B41FA5}">
                      <a16:colId xmlns:a16="http://schemas.microsoft.com/office/drawing/2014/main" val="20007"/>
                    </a:ext>
                  </a:extLst>
                </a:gridCol>
                <a:gridCol w="939681">
                  <a:extLst>
                    <a:ext uri="{9D8B030D-6E8A-4147-A177-3AD203B41FA5}">
                      <a16:colId xmlns:a16="http://schemas.microsoft.com/office/drawing/2014/main" val="20008"/>
                    </a:ext>
                  </a:extLst>
                </a:gridCol>
                <a:gridCol w="1148500">
                  <a:extLst>
                    <a:ext uri="{9D8B030D-6E8A-4147-A177-3AD203B41FA5}">
                      <a16:colId xmlns:a16="http://schemas.microsoft.com/office/drawing/2014/main" val="20009"/>
                    </a:ext>
                  </a:extLst>
                </a:gridCol>
                <a:gridCol w="1200704">
                  <a:extLst>
                    <a:ext uri="{9D8B030D-6E8A-4147-A177-3AD203B41FA5}">
                      <a16:colId xmlns:a16="http://schemas.microsoft.com/office/drawing/2014/main" val="20010"/>
                    </a:ext>
                  </a:extLst>
                </a:gridCol>
                <a:gridCol w="1044090">
                  <a:extLst>
                    <a:ext uri="{9D8B030D-6E8A-4147-A177-3AD203B41FA5}">
                      <a16:colId xmlns:a16="http://schemas.microsoft.com/office/drawing/2014/main" val="20011"/>
                    </a:ext>
                  </a:extLst>
                </a:gridCol>
              </a:tblGrid>
              <a:tr h="861060">
                <a:tc>
                  <a:txBody>
                    <a:bodyPr/>
                    <a:lstStyle/>
                    <a:p>
                      <a:pPr algn="ctr">
                        <a:spcAft>
                          <a:spcPts val="0"/>
                        </a:spcAft>
                      </a:pPr>
                      <a:r>
                        <a:rPr sz="1000" b="1"/>
                        <a:t>Sl No</a:t>
                      </a:r>
                      <a:endParaRPr sz="1000" b="1">
                        <a:latin typeface="Arial"/>
                      </a:endParaRPr>
                    </a:p>
                  </a:txBody>
                  <a:tcPr anchor="ctr"/>
                </a:tc>
                <a:tc>
                  <a:txBody>
                    <a:bodyPr/>
                    <a:lstStyle/>
                    <a:p>
                      <a:pPr algn="ctr">
                        <a:spcAft>
                          <a:spcPts val="0"/>
                        </a:spcAft>
                      </a:pPr>
                      <a:r>
                        <a:rPr sz="1000" b="1"/>
                        <a:t>Year</a:t>
                      </a:r>
                      <a:endParaRPr sz="1000" b="1">
                        <a:latin typeface="Arial"/>
                      </a:endParaRPr>
                    </a:p>
                  </a:txBody>
                  <a:tcPr anchor="ctr"/>
                </a:tc>
                <a:tc>
                  <a:txBody>
                    <a:bodyPr/>
                    <a:lstStyle/>
                    <a:p>
                      <a:pPr algn="ctr">
                        <a:spcAft>
                          <a:spcPts val="0"/>
                        </a:spcAft>
                      </a:pPr>
                      <a:r>
                        <a:rPr sz="1000" b="1"/>
                        <a:t>Authors</a:t>
                      </a:r>
                      <a:endParaRPr sz="1000" b="1">
                        <a:latin typeface="Arial"/>
                      </a:endParaRPr>
                    </a:p>
                  </a:txBody>
                  <a:tcPr anchor="ctr"/>
                </a:tc>
                <a:tc>
                  <a:txBody>
                    <a:bodyPr/>
                    <a:lstStyle/>
                    <a:p>
                      <a:pPr algn="ctr">
                        <a:spcAft>
                          <a:spcPts val="0"/>
                        </a:spcAft>
                      </a:pPr>
                      <a:r>
                        <a:rPr sz="1000" b="1" dirty="0"/>
                        <a:t>Title of the paper</a:t>
                      </a:r>
                      <a:endParaRPr sz="1000" b="1" dirty="0">
                        <a:latin typeface="Arial"/>
                      </a:endParaRPr>
                    </a:p>
                  </a:txBody>
                  <a:tcPr anchor="ctr"/>
                </a:tc>
                <a:tc>
                  <a:txBody>
                    <a:bodyPr/>
                    <a:lstStyle/>
                    <a:p>
                      <a:pPr algn="ctr">
                        <a:spcAft>
                          <a:spcPts val="0"/>
                        </a:spcAft>
                      </a:pPr>
                      <a:r>
                        <a:rPr sz="1000" b="1"/>
                        <a:t>Source (Journal/Conference name)</a:t>
                      </a:r>
                      <a:endParaRPr sz="1000" b="1">
                        <a:latin typeface="Arial"/>
                      </a:endParaRPr>
                    </a:p>
                  </a:txBody>
                  <a:tcPr anchor="ctr"/>
                </a:tc>
                <a:tc>
                  <a:txBody>
                    <a:bodyPr/>
                    <a:lstStyle/>
                    <a:p>
                      <a:pPr algn="ctr">
                        <a:spcAft>
                          <a:spcPts val="0"/>
                        </a:spcAft>
                      </a:pPr>
                      <a:r>
                        <a:rPr sz="1000" b="1"/>
                        <a:t>Objective of the paper</a:t>
                      </a:r>
                      <a:endParaRPr sz="1000" b="1">
                        <a:latin typeface="Arial"/>
                      </a:endParaRPr>
                    </a:p>
                  </a:txBody>
                  <a:tcPr anchor="ctr"/>
                </a:tc>
                <a:tc>
                  <a:txBody>
                    <a:bodyPr/>
                    <a:lstStyle/>
                    <a:p>
                      <a:pPr algn="ctr">
                        <a:spcAft>
                          <a:spcPts val="0"/>
                        </a:spcAft>
                      </a:pPr>
                      <a:r>
                        <a:rPr sz="1000" b="1"/>
                        <a:t>Techniques Used</a:t>
                      </a:r>
                      <a:endParaRPr sz="1000" b="1">
                        <a:latin typeface="Arial"/>
                      </a:endParaRPr>
                    </a:p>
                  </a:txBody>
                  <a:tcPr anchor="ctr"/>
                </a:tc>
                <a:tc>
                  <a:txBody>
                    <a:bodyPr/>
                    <a:lstStyle/>
                    <a:p>
                      <a:pPr algn="ctr">
                        <a:spcAft>
                          <a:spcPts val="0"/>
                        </a:spcAft>
                      </a:pPr>
                      <a:r>
                        <a:rPr sz="1000" b="1"/>
                        <a:t>Dataset Used</a:t>
                      </a:r>
                      <a:endParaRPr sz="1000" b="1">
                        <a:latin typeface="Arial"/>
                      </a:endParaRPr>
                    </a:p>
                  </a:txBody>
                  <a:tcPr anchor="ctr"/>
                </a:tc>
                <a:tc>
                  <a:txBody>
                    <a:bodyPr/>
                    <a:lstStyle/>
                    <a:p>
                      <a:pPr algn="ctr">
                        <a:spcAft>
                          <a:spcPts val="0"/>
                        </a:spcAft>
                      </a:pPr>
                      <a:r>
                        <a:rPr sz="1000" b="1"/>
                        <a:t>Parameters Analysed</a:t>
                      </a:r>
                      <a:endParaRPr sz="1000" b="1">
                        <a:latin typeface="Arial"/>
                      </a:endParaRPr>
                    </a:p>
                  </a:txBody>
                  <a:tcPr anchor="ctr"/>
                </a:tc>
                <a:tc>
                  <a:txBody>
                    <a:bodyPr/>
                    <a:lstStyle/>
                    <a:p>
                      <a:pPr algn="ctr">
                        <a:spcAft>
                          <a:spcPts val="0"/>
                        </a:spcAft>
                      </a:pPr>
                      <a:r>
                        <a:rPr sz="1000" b="1"/>
                        <a:t>Research Inference</a:t>
                      </a:r>
                      <a:endParaRPr sz="1000" b="1">
                        <a:latin typeface="Arial"/>
                      </a:endParaRPr>
                    </a:p>
                  </a:txBody>
                  <a:tcPr anchor="ctr"/>
                </a:tc>
                <a:tc>
                  <a:txBody>
                    <a:bodyPr/>
                    <a:lstStyle/>
                    <a:p>
                      <a:pPr algn="ctr">
                        <a:spcAft>
                          <a:spcPts val="0"/>
                        </a:spcAft>
                      </a:pPr>
                      <a:r>
                        <a:rPr sz="1000" b="1"/>
                        <a:t>Research Gap</a:t>
                      </a:r>
                      <a:endParaRPr sz="1000" b="1">
                        <a:latin typeface="Arial"/>
                      </a:endParaRPr>
                    </a:p>
                  </a:txBody>
                  <a:tcPr anchor="ctr"/>
                </a:tc>
                <a:tc>
                  <a:txBody>
                    <a:bodyPr/>
                    <a:lstStyle/>
                    <a:p>
                      <a:pPr algn="ctr">
                        <a:spcAft>
                          <a:spcPts val="0"/>
                        </a:spcAft>
                      </a:pPr>
                      <a:r>
                        <a:rPr sz="1000" b="1"/>
                        <a:t>DOI of the paper</a:t>
                      </a:r>
                      <a:endParaRPr sz="1000" b="1">
                        <a:latin typeface="Arial"/>
                      </a:endParaRPr>
                    </a:p>
                  </a:txBody>
                  <a:tcPr anchor="ctr"/>
                </a:tc>
                <a:extLst>
                  <a:ext uri="{0D108BD9-81ED-4DB2-BD59-A6C34878D82A}">
                    <a16:rowId xmlns:a16="http://schemas.microsoft.com/office/drawing/2014/main" val="10000"/>
                  </a:ext>
                </a:extLst>
              </a:tr>
              <a:tr h="861060">
                <a:tc>
                  <a:txBody>
                    <a:bodyPr/>
                    <a:lstStyle/>
                    <a:p>
                      <a:pPr algn="ctr">
                        <a:spcAft>
                          <a:spcPts val="0"/>
                        </a:spcAft>
                      </a:pPr>
                      <a:r>
                        <a:rPr sz="1000" b="0"/>
                        <a:t>1</a:t>
                      </a:r>
                      <a:endParaRPr sz="1000" b="0">
                        <a:latin typeface="Arial"/>
                      </a:endParaRPr>
                    </a:p>
                  </a:txBody>
                  <a:tcPr anchor="ctr"/>
                </a:tc>
                <a:tc>
                  <a:txBody>
                    <a:bodyPr/>
                    <a:lstStyle/>
                    <a:p>
                      <a:pPr algn="ctr">
                        <a:spcAft>
                          <a:spcPts val="0"/>
                        </a:spcAft>
                      </a:pPr>
                      <a:r>
                        <a:rPr sz="1000" b="0"/>
                        <a:t>2020</a:t>
                      </a:r>
                      <a:endParaRPr sz="1000" b="0">
                        <a:latin typeface="Arial"/>
                      </a:endParaRPr>
                    </a:p>
                  </a:txBody>
                  <a:tcPr anchor="ctr"/>
                </a:tc>
                <a:tc>
                  <a:txBody>
                    <a:bodyPr/>
                    <a:lstStyle/>
                    <a:p>
                      <a:pPr algn="ctr">
                        <a:spcAft>
                          <a:spcPts val="0"/>
                        </a:spcAft>
                      </a:pPr>
                      <a:r>
                        <a:rPr sz="1000" b="0"/>
                        <a:t>Walsh, B.; Lim, H.N.</a:t>
                      </a:r>
                      <a:endParaRPr sz="1000" b="0">
                        <a:latin typeface="Arial"/>
                      </a:endParaRPr>
                    </a:p>
                  </a:txBody>
                  <a:tcPr anchor="ctr"/>
                </a:tc>
                <a:tc>
                  <a:txBody>
                    <a:bodyPr/>
                    <a:lstStyle/>
                    <a:p>
                      <a:pPr algn="ctr">
                        <a:spcAft>
                          <a:spcPts val="0"/>
                        </a:spcAft>
                      </a:pPr>
                      <a:r>
                        <a:rPr sz="1000" b="0"/>
                        <a:t>Millennials' Adoption of Personal Financial Management (PFM) Technology and Financial Behavior</a:t>
                      </a:r>
                      <a:endParaRPr sz="1000" b="0">
                        <a:latin typeface="Arial"/>
                      </a:endParaRPr>
                    </a:p>
                  </a:txBody>
                  <a:tcPr anchor="ctr"/>
                </a:tc>
                <a:tc>
                  <a:txBody>
                    <a:bodyPr/>
                    <a:lstStyle/>
                    <a:p>
                      <a:pPr algn="ctr">
                        <a:spcAft>
                          <a:spcPts val="0"/>
                        </a:spcAft>
                      </a:pPr>
                      <a:r>
                        <a:rPr sz="1000" b="0"/>
                        <a:t>Financial Planning Review</a:t>
                      </a:r>
                      <a:endParaRPr sz="1000" b="0">
                        <a:latin typeface="Arial"/>
                      </a:endParaRPr>
                    </a:p>
                  </a:txBody>
                  <a:tcPr anchor="ctr"/>
                </a:tc>
                <a:tc>
                  <a:txBody>
                    <a:bodyPr/>
                    <a:lstStyle/>
                    <a:p>
                      <a:pPr algn="ctr">
                        <a:spcAft>
                          <a:spcPts val="0"/>
                        </a:spcAft>
                      </a:pPr>
                      <a:r>
                        <a:rPr sz="1000" b="0"/>
                        <a:t>Study PFM adoption and its link with financial behavior</a:t>
                      </a:r>
                      <a:endParaRPr sz="1000" b="0">
                        <a:latin typeface="Arial"/>
                      </a:endParaRPr>
                    </a:p>
                  </a:txBody>
                  <a:tcPr anchor="ctr"/>
                </a:tc>
                <a:tc>
                  <a:txBody>
                    <a:bodyPr/>
                    <a:lstStyle/>
                    <a:p>
                      <a:pPr algn="ctr">
                        <a:spcAft>
                          <a:spcPts val="0"/>
                        </a:spcAft>
                      </a:pPr>
                      <a:r>
                        <a:rPr sz="1000" b="0"/>
                        <a:t>Technology Acceptance Model; statistical analysis</a:t>
                      </a:r>
                      <a:endParaRPr sz="1000" b="0">
                        <a:latin typeface="Arial"/>
                      </a:endParaRPr>
                    </a:p>
                  </a:txBody>
                  <a:tcPr anchor="ctr"/>
                </a:tc>
                <a:tc>
                  <a:txBody>
                    <a:bodyPr/>
                    <a:lstStyle/>
                    <a:p>
                      <a:pPr algn="ctr">
                        <a:spcAft>
                          <a:spcPts val="0"/>
                        </a:spcAft>
                      </a:pPr>
                      <a:r>
                        <a:rPr sz="1000" b="0"/>
                        <a:t>Millennial survey</a:t>
                      </a:r>
                      <a:endParaRPr sz="1000" b="0">
                        <a:latin typeface="Arial"/>
                      </a:endParaRPr>
                    </a:p>
                  </a:txBody>
                  <a:tcPr anchor="ctr"/>
                </a:tc>
                <a:tc>
                  <a:txBody>
                    <a:bodyPr/>
                    <a:lstStyle/>
                    <a:p>
                      <a:pPr algn="ctr">
                        <a:spcAft>
                          <a:spcPts val="0"/>
                        </a:spcAft>
                      </a:pPr>
                      <a:r>
                        <a:rPr sz="1000" b="0"/>
                        <a:t>PFM adoption; financial behavior</a:t>
                      </a:r>
                      <a:endParaRPr sz="1000" b="0">
                        <a:latin typeface="Arial"/>
                      </a:endParaRPr>
                    </a:p>
                  </a:txBody>
                  <a:tcPr anchor="ctr"/>
                </a:tc>
                <a:tc>
                  <a:txBody>
                    <a:bodyPr/>
                    <a:lstStyle/>
                    <a:p>
                      <a:pPr algn="ctr">
                        <a:spcAft>
                          <a:spcPts val="0"/>
                        </a:spcAft>
                      </a:pPr>
                      <a:r>
                        <a:rPr sz="1000" b="0"/>
                        <a:t>PFM adoption is associated with financial-management behavior</a:t>
                      </a:r>
                      <a:endParaRPr sz="1000" b="0">
                        <a:latin typeface="Arial"/>
                      </a:endParaRPr>
                    </a:p>
                  </a:txBody>
                  <a:tcPr anchor="ctr"/>
                </a:tc>
                <a:tc>
                  <a:txBody>
                    <a:bodyPr/>
                    <a:lstStyle/>
                    <a:p>
                      <a:pPr algn="ctr">
                        <a:spcAft>
                          <a:spcPts val="0"/>
                        </a:spcAft>
                      </a:pPr>
                      <a:r>
                        <a:rPr sz="1000" b="0"/>
                        <a:t>Focuses on adoption/behavior rather than an integrated intelligent finance framework</a:t>
                      </a:r>
                      <a:endParaRPr sz="1000" b="0">
                        <a:latin typeface="Arial"/>
                      </a:endParaRPr>
                    </a:p>
                  </a:txBody>
                  <a:tcPr anchor="ctr"/>
                </a:tc>
                <a:tc>
                  <a:txBody>
                    <a:bodyPr/>
                    <a:lstStyle/>
                    <a:p>
                      <a:pPr algn="ctr">
                        <a:spcAft>
                          <a:spcPts val="0"/>
                        </a:spcAft>
                      </a:pPr>
                      <a:r>
                        <a:rPr sz="1000" b="0"/>
                        <a:t>10.1002/cfp2.1095</a:t>
                      </a:r>
                      <a:endParaRPr sz="1000" b="0">
                        <a:latin typeface="Arial"/>
                      </a:endParaRPr>
                    </a:p>
                  </a:txBody>
                  <a:tcPr anchor="ctr"/>
                </a:tc>
                <a:extLst>
                  <a:ext uri="{0D108BD9-81ED-4DB2-BD59-A6C34878D82A}">
                    <a16:rowId xmlns:a16="http://schemas.microsoft.com/office/drawing/2014/main" val="10001"/>
                  </a:ext>
                </a:extLst>
              </a:tr>
              <a:tr h="861060">
                <a:tc>
                  <a:txBody>
                    <a:bodyPr/>
                    <a:lstStyle/>
                    <a:p>
                      <a:pPr algn="ctr">
                        <a:spcAft>
                          <a:spcPts val="0"/>
                        </a:spcAft>
                      </a:pPr>
                      <a:r>
                        <a:rPr sz="1000" b="0"/>
                        <a:t>2</a:t>
                      </a:r>
                      <a:endParaRPr sz="1000" b="0">
                        <a:latin typeface="Arial"/>
                      </a:endParaRPr>
                    </a:p>
                  </a:txBody>
                  <a:tcPr anchor="ctr"/>
                </a:tc>
                <a:tc>
                  <a:txBody>
                    <a:bodyPr/>
                    <a:lstStyle/>
                    <a:p>
                      <a:pPr algn="ctr">
                        <a:spcAft>
                          <a:spcPts val="0"/>
                        </a:spcAft>
                      </a:pPr>
                      <a:r>
                        <a:rPr sz="1000" b="0"/>
                        <a:t>2020</a:t>
                      </a:r>
                      <a:endParaRPr sz="1000" b="0">
                        <a:latin typeface="Arial"/>
                      </a:endParaRPr>
                    </a:p>
                  </a:txBody>
                  <a:tcPr anchor="ctr"/>
                </a:tc>
                <a:tc>
                  <a:txBody>
                    <a:bodyPr/>
                    <a:lstStyle/>
                    <a:p>
                      <a:pPr algn="ctr">
                        <a:spcAft>
                          <a:spcPts val="0"/>
                        </a:spcAft>
                      </a:pPr>
                      <a:r>
                        <a:rPr sz="1000" b="0"/>
                        <a:t>Mahapatra, M.S.; Mishra, R.</a:t>
                      </a:r>
                      <a:endParaRPr sz="1000" b="0">
                        <a:latin typeface="Arial"/>
                      </a:endParaRPr>
                    </a:p>
                  </a:txBody>
                  <a:tcPr anchor="ctr"/>
                </a:tc>
                <a:tc>
                  <a:txBody>
                    <a:bodyPr/>
                    <a:lstStyle/>
                    <a:p>
                      <a:pPr algn="ctr">
                        <a:spcAft>
                          <a:spcPts val="0"/>
                        </a:spcAft>
                      </a:pPr>
                      <a:r>
                        <a:rPr sz="1000" b="0"/>
                        <a:t>Behavioral Influence and Financial Decision of Individuals: A Study on Mental Accounting Process among Indian Households</a:t>
                      </a:r>
                      <a:endParaRPr sz="1000" b="0">
                        <a:latin typeface="Arial"/>
                      </a:endParaRPr>
                    </a:p>
                  </a:txBody>
                  <a:tcPr anchor="ctr"/>
                </a:tc>
                <a:tc>
                  <a:txBody>
                    <a:bodyPr/>
                    <a:lstStyle/>
                    <a:p>
                      <a:pPr algn="ctr">
                        <a:spcAft>
                          <a:spcPts val="0"/>
                        </a:spcAft>
                      </a:pPr>
                      <a:r>
                        <a:rPr sz="1000" b="0"/>
                        <a:t>Cogent Economics &amp; Finance</a:t>
                      </a:r>
                      <a:endParaRPr sz="1000" b="0">
                        <a:latin typeface="Arial"/>
                      </a:endParaRPr>
                    </a:p>
                  </a:txBody>
                  <a:tcPr anchor="ctr"/>
                </a:tc>
                <a:tc>
                  <a:txBody>
                    <a:bodyPr/>
                    <a:lstStyle/>
                    <a:p>
                      <a:pPr algn="ctr">
                        <a:spcAft>
                          <a:spcPts val="0"/>
                        </a:spcAft>
                      </a:pPr>
                      <a:r>
                        <a:rPr sz="1000" b="0"/>
                        <a:t>Examine how mental accounting influences financial decisions</a:t>
                      </a:r>
                      <a:endParaRPr sz="1000" b="0">
                        <a:latin typeface="Arial"/>
                      </a:endParaRPr>
                    </a:p>
                  </a:txBody>
                  <a:tcPr anchor="ctr"/>
                </a:tc>
                <a:tc>
                  <a:txBody>
                    <a:bodyPr/>
                    <a:lstStyle/>
                    <a:p>
                      <a:pPr algn="ctr">
                        <a:spcAft>
                          <a:spcPts val="0"/>
                        </a:spcAft>
                      </a:pPr>
                      <a:r>
                        <a:rPr sz="1000" b="0"/>
                        <a:t>PLS-SEM; survey analysis</a:t>
                      </a:r>
                      <a:endParaRPr sz="1000" b="0">
                        <a:latin typeface="Arial"/>
                      </a:endParaRPr>
                    </a:p>
                  </a:txBody>
                  <a:tcPr anchor="ctr"/>
                </a:tc>
                <a:tc>
                  <a:txBody>
                    <a:bodyPr/>
                    <a:lstStyle/>
                    <a:p>
                      <a:pPr algn="ctr">
                        <a:spcAft>
                          <a:spcPts val="0"/>
                        </a:spcAft>
                      </a:pPr>
                      <a:r>
                        <a:rPr sz="1000" b="0"/>
                        <a:t>452 Indian households</a:t>
                      </a:r>
                      <a:endParaRPr sz="1000" b="0">
                        <a:latin typeface="Arial"/>
                      </a:endParaRPr>
                    </a:p>
                  </a:txBody>
                  <a:tcPr anchor="ctr"/>
                </a:tc>
                <a:tc>
                  <a:txBody>
                    <a:bodyPr/>
                    <a:lstStyle/>
                    <a:p>
                      <a:pPr algn="ctr">
                        <a:spcAft>
                          <a:spcPts val="0"/>
                        </a:spcAft>
                      </a:pPr>
                      <a:r>
                        <a:rPr sz="1000" b="0"/>
                        <a:t>Mental accounting; income; assets</a:t>
                      </a:r>
                      <a:endParaRPr sz="1000" b="0">
                        <a:latin typeface="Arial"/>
                      </a:endParaRPr>
                    </a:p>
                  </a:txBody>
                  <a:tcPr anchor="ctr"/>
                </a:tc>
                <a:tc>
                  <a:txBody>
                    <a:bodyPr/>
                    <a:lstStyle/>
                    <a:p>
                      <a:pPr algn="ctr">
                        <a:spcAft>
                          <a:spcPts val="0"/>
                        </a:spcAft>
                      </a:pPr>
                      <a:r>
                        <a:rPr sz="1000" b="0"/>
                        <a:t>Mental accounting influences household financial decisions</a:t>
                      </a:r>
                      <a:endParaRPr sz="1000" b="0">
                        <a:latin typeface="Arial"/>
                      </a:endParaRPr>
                    </a:p>
                  </a:txBody>
                  <a:tcPr anchor="ctr"/>
                </a:tc>
                <a:tc>
                  <a:txBody>
                    <a:bodyPr/>
                    <a:lstStyle/>
                    <a:p>
                      <a:pPr algn="ctr">
                        <a:spcAft>
                          <a:spcPts val="0"/>
                        </a:spcAft>
                      </a:pPr>
                      <a:r>
                        <a:rPr sz="1000" b="0"/>
                        <a:t>Behavioral study; no continuous digital tracking or decision-support system</a:t>
                      </a:r>
                      <a:endParaRPr sz="1000" b="0">
                        <a:latin typeface="Arial"/>
                      </a:endParaRPr>
                    </a:p>
                  </a:txBody>
                  <a:tcPr anchor="ctr"/>
                </a:tc>
                <a:tc>
                  <a:txBody>
                    <a:bodyPr/>
                    <a:lstStyle/>
                    <a:p>
                      <a:pPr algn="ctr">
                        <a:spcAft>
                          <a:spcPts val="0"/>
                        </a:spcAft>
                      </a:pPr>
                      <a:r>
                        <a:rPr sz="1000" b="0"/>
                        <a:t>10.1080/23322039.2020.1827762</a:t>
                      </a:r>
                      <a:endParaRPr sz="1000" b="0">
                        <a:latin typeface="Arial"/>
                      </a:endParaRPr>
                    </a:p>
                  </a:txBody>
                  <a:tcPr anchor="ctr"/>
                </a:tc>
                <a:extLst>
                  <a:ext uri="{0D108BD9-81ED-4DB2-BD59-A6C34878D82A}">
                    <a16:rowId xmlns:a16="http://schemas.microsoft.com/office/drawing/2014/main" val="10002"/>
                  </a:ext>
                </a:extLst>
              </a:tr>
              <a:tr h="861060">
                <a:tc>
                  <a:txBody>
                    <a:bodyPr/>
                    <a:lstStyle/>
                    <a:p>
                      <a:pPr algn="ctr">
                        <a:spcAft>
                          <a:spcPts val="0"/>
                        </a:spcAft>
                      </a:pPr>
                      <a:r>
                        <a:rPr sz="1000" b="0"/>
                        <a:t>3</a:t>
                      </a:r>
                      <a:endParaRPr sz="1000" b="0">
                        <a:latin typeface="Arial"/>
                      </a:endParaRPr>
                    </a:p>
                  </a:txBody>
                  <a:tcPr anchor="ctr"/>
                </a:tc>
                <a:tc>
                  <a:txBody>
                    <a:bodyPr/>
                    <a:lstStyle/>
                    <a:p>
                      <a:pPr algn="ctr">
                        <a:spcAft>
                          <a:spcPts val="0"/>
                        </a:spcAft>
                      </a:pPr>
                      <a:r>
                        <a:rPr sz="1000" b="0"/>
                        <a:t>2021</a:t>
                      </a:r>
                      <a:endParaRPr sz="1000" b="0">
                        <a:latin typeface="Arial"/>
                      </a:endParaRPr>
                    </a:p>
                  </a:txBody>
                  <a:tcPr anchor="ctr"/>
                </a:tc>
                <a:tc>
                  <a:txBody>
                    <a:bodyPr/>
                    <a:lstStyle/>
                    <a:p>
                      <a:pPr algn="ctr">
                        <a:spcAft>
                          <a:spcPts val="0"/>
                        </a:spcAft>
                      </a:pPr>
                      <a:r>
                        <a:rPr sz="1000" b="0"/>
                        <a:t>French, D.; McKillop, D.; Stewart, E.</a:t>
                      </a:r>
                      <a:endParaRPr sz="1000" b="0">
                        <a:latin typeface="Arial"/>
                      </a:endParaRPr>
                    </a:p>
                  </a:txBody>
                  <a:tcPr anchor="ctr"/>
                </a:tc>
                <a:tc>
                  <a:txBody>
                    <a:bodyPr/>
                    <a:lstStyle/>
                    <a:p>
                      <a:pPr algn="ctr">
                        <a:spcAft>
                          <a:spcPts val="0"/>
                        </a:spcAft>
                      </a:pPr>
                      <a:r>
                        <a:rPr sz="1000" b="0"/>
                        <a:t>Personal Finance Apps and Low-Income Households</a:t>
                      </a:r>
                      <a:endParaRPr sz="1000" b="0">
                        <a:latin typeface="Arial"/>
                      </a:endParaRPr>
                    </a:p>
                  </a:txBody>
                  <a:tcPr anchor="ctr"/>
                </a:tc>
                <a:tc>
                  <a:txBody>
                    <a:bodyPr/>
                    <a:lstStyle/>
                    <a:p>
                      <a:pPr algn="ctr">
                        <a:spcAft>
                          <a:spcPts val="0"/>
                        </a:spcAft>
                      </a:pPr>
                      <a:r>
                        <a:rPr sz="1000" b="0"/>
                        <a:t>Strategic Change</a:t>
                      </a:r>
                      <a:endParaRPr sz="1000" b="0">
                        <a:latin typeface="Arial"/>
                      </a:endParaRPr>
                    </a:p>
                  </a:txBody>
                  <a:tcPr anchor="ctr"/>
                </a:tc>
                <a:tc>
                  <a:txBody>
                    <a:bodyPr/>
                    <a:lstStyle/>
                    <a:p>
                      <a:pPr algn="ctr">
                        <a:spcAft>
                          <a:spcPts val="0"/>
                        </a:spcAft>
                      </a:pPr>
                      <a:r>
                        <a:rPr sz="1000" b="0"/>
                        <a:t>Examine whether PFM apps improve financial capability</a:t>
                      </a:r>
                      <a:endParaRPr sz="1000" b="0">
                        <a:latin typeface="Arial"/>
                      </a:endParaRPr>
                    </a:p>
                  </a:txBody>
                  <a:tcPr anchor="ctr"/>
                </a:tc>
                <a:tc>
                  <a:txBody>
                    <a:bodyPr/>
                    <a:lstStyle/>
                    <a:p>
                      <a:pPr algn="ctr">
                        <a:spcAft>
                          <a:spcPts val="0"/>
                        </a:spcAft>
                      </a:pPr>
                      <a:r>
                        <a:rPr sz="1000" b="0"/>
                        <a:t>Empirical/survey analysis</a:t>
                      </a:r>
                      <a:endParaRPr sz="1000" b="0">
                        <a:latin typeface="Arial"/>
                      </a:endParaRPr>
                    </a:p>
                  </a:txBody>
                  <a:tcPr anchor="ctr"/>
                </a:tc>
                <a:tc>
                  <a:txBody>
                    <a:bodyPr/>
                    <a:lstStyle/>
                    <a:p>
                      <a:pPr algn="ctr">
                        <a:spcAft>
                          <a:spcPts val="0"/>
                        </a:spcAft>
                      </a:pPr>
                      <a:r>
                        <a:rPr sz="1000" b="0"/>
                        <a:t>Low-income household users</a:t>
                      </a:r>
                      <a:endParaRPr sz="1000" b="0">
                        <a:latin typeface="Arial"/>
                      </a:endParaRPr>
                    </a:p>
                  </a:txBody>
                  <a:tcPr anchor="ctr"/>
                </a:tc>
                <a:tc>
                  <a:txBody>
                    <a:bodyPr/>
                    <a:lstStyle/>
                    <a:p>
                      <a:pPr algn="ctr">
                        <a:spcAft>
                          <a:spcPts val="0"/>
                        </a:spcAft>
                      </a:pPr>
                      <a:r>
                        <a:rPr sz="1000" b="0"/>
                        <a:t>Financial knowledge; skills; attitudes; behavior</a:t>
                      </a:r>
                      <a:endParaRPr sz="1000" b="0">
                        <a:latin typeface="Arial"/>
                      </a:endParaRPr>
                    </a:p>
                  </a:txBody>
                  <a:tcPr anchor="ctr"/>
                </a:tc>
                <a:tc>
                  <a:txBody>
                    <a:bodyPr/>
                    <a:lstStyle/>
                    <a:p>
                      <a:pPr algn="ctr">
                        <a:spcAft>
                          <a:spcPts val="0"/>
                        </a:spcAft>
                      </a:pPr>
                      <a:r>
                        <a:rPr sz="1000" b="0"/>
                        <a:t>PFM apps can improve financial capability and confidence</a:t>
                      </a:r>
                      <a:endParaRPr sz="1000" b="0">
                        <a:latin typeface="Arial"/>
                      </a:endParaRPr>
                    </a:p>
                  </a:txBody>
                  <a:tcPr anchor="ctr"/>
                </a:tc>
                <a:tc>
                  <a:txBody>
                    <a:bodyPr/>
                    <a:lstStyle/>
                    <a:p>
                      <a:pPr algn="ctr">
                        <a:spcAft>
                          <a:spcPts val="0"/>
                        </a:spcAft>
                      </a:pPr>
                      <a:r>
                        <a:rPr sz="1000" b="0"/>
                        <a:t>Limited advanced analytics and personalized decision support</a:t>
                      </a:r>
                      <a:endParaRPr sz="1000" b="0">
                        <a:latin typeface="Arial"/>
                      </a:endParaRPr>
                    </a:p>
                  </a:txBody>
                  <a:tcPr anchor="ctr"/>
                </a:tc>
                <a:tc>
                  <a:txBody>
                    <a:bodyPr/>
                    <a:lstStyle/>
                    <a:p>
                      <a:pPr algn="ctr">
                        <a:spcAft>
                          <a:spcPts val="0"/>
                        </a:spcAft>
                      </a:pPr>
                      <a:r>
                        <a:rPr sz="1000" b="0"/>
                        <a:t>10.1002/jsc.2430</a:t>
                      </a:r>
                      <a:endParaRPr sz="1000" b="0">
                        <a:latin typeface="Arial"/>
                      </a:endParaRPr>
                    </a:p>
                  </a:txBody>
                  <a:tcPr anchor="ctr"/>
                </a:tc>
                <a:extLst>
                  <a:ext uri="{0D108BD9-81ED-4DB2-BD59-A6C34878D82A}">
                    <a16:rowId xmlns:a16="http://schemas.microsoft.com/office/drawing/2014/main" val="10003"/>
                  </a:ext>
                </a:extLst>
              </a:tr>
              <a:tr h="861060">
                <a:tc>
                  <a:txBody>
                    <a:bodyPr/>
                    <a:lstStyle/>
                    <a:p>
                      <a:pPr algn="ctr">
                        <a:spcAft>
                          <a:spcPts val="0"/>
                        </a:spcAft>
                      </a:pPr>
                      <a:r>
                        <a:rPr sz="1000" b="0"/>
                        <a:t>4</a:t>
                      </a:r>
                      <a:endParaRPr sz="1000" b="0">
                        <a:latin typeface="Arial"/>
                      </a:endParaRPr>
                    </a:p>
                  </a:txBody>
                  <a:tcPr anchor="ctr"/>
                </a:tc>
                <a:tc>
                  <a:txBody>
                    <a:bodyPr/>
                    <a:lstStyle/>
                    <a:p>
                      <a:pPr algn="ctr">
                        <a:spcAft>
                          <a:spcPts val="0"/>
                        </a:spcAft>
                      </a:pPr>
                      <a:r>
                        <a:rPr sz="1000" b="0"/>
                        <a:t>2021</a:t>
                      </a:r>
                      <a:endParaRPr sz="1000" b="0">
                        <a:latin typeface="Arial"/>
                      </a:endParaRPr>
                    </a:p>
                  </a:txBody>
                  <a:tcPr anchor="ctr"/>
                </a:tc>
                <a:tc>
                  <a:txBody>
                    <a:bodyPr/>
                    <a:lstStyle/>
                    <a:p>
                      <a:pPr algn="ctr">
                        <a:spcAft>
                          <a:spcPts val="0"/>
                        </a:spcAft>
                      </a:pPr>
                      <a:r>
                        <a:rPr sz="1000" b="0"/>
                        <a:t>Tovanich, N. et al.</a:t>
                      </a:r>
                      <a:endParaRPr sz="1000" b="0">
                        <a:latin typeface="Arial"/>
                      </a:endParaRPr>
                    </a:p>
                  </a:txBody>
                  <a:tcPr anchor="ctr"/>
                </a:tc>
                <a:tc>
                  <a:txBody>
                    <a:bodyPr/>
                    <a:lstStyle/>
                    <a:p>
                      <a:pPr algn="ctr">
                        <a:spcAft>
                          <a:spcPts val="0"/>
                        </a:spcAft>
                      </a:pPr>
                      <a:r>
                        <a:rPr sz="1000" b="0"/>
                        <a:t>Inferring Psychological Traits from Spending Categories and Dynamic Consumption Patterns</a:t>
                      </a:r>
                      <a:endParaRPr sz="1000" b="0">
                        <a:latin typeface="Arial"/>
                      </a:endParaRPr>
                    </a:p>
                  </a:txBody>
                  <a:tcPr anchor="ctr"/>
                </a:tc>
                <a:tc>
                  <a:txBody>
                    <a:bodyPr/>
                    <a:lstStyle/>
                    <a:p>
                      <a:pPr algn="ctr">
                        <a:spcAft>
                          <a:spcPts val="0"/>
                        </a:spcAft>
                      </a:pPr>
                      <a:r>
                        <a:rPr sz="1000" b="0"/>
                        <a:t>EPJ Data Science</a:t>
                      </a:r>
                      <a:endParaRPr sz="1000" b="0">
                        <a:latin typeface="Arial"/>
                      </a:endParaRPr>
                    </a:p>
                  </a:txBody>
                  <a:tcPr anchor="ctr"/>
                </a:tc>
                <a:tc>
                  <a:txBody>
                    <a:bodyPr/>
                    <a:lstStyle/>
                    <a:p>
                      <a:pPr algn="ctr">
                        <a:spcAft>
                          <a:spcPts val="0"/>
                        </a:spcAft>
                      </a:pPr>
                      <a:r>
                        <a:rPr sz="1000" b="0"/>
                        <a:t>Infer psychological characteristics from spending behavior</a:t>
                      </a:r>
                      <a:endParaRPr sz="1000" b="0">
                        <a:latin typeface="Arial"/>
                      </a:endParaRPr>
                    </a:p>
                  </a:txBody>
                  <a:tcPr anchor="ctr"/>
                </a:tc>
                <a:tc>
                  <a:txBody>
                    <a:bodyPr/>
                    <a:lstStyle/>
                    <a:p>
                      <a:pPr algn="ctr">
                        <a:spcAft>
                          <a:spcPts val="0"/>
                        </a:spcAft>
                      </a:pPr>
                      <a:r>
                        <a:rPr sz="1000" b="0"/>
                        <a:t>Logistic Regression; Random Forest; XGBoost</a:t>
                      </a:r>
                      <a:endParaRPr sz="1000" b="0">
                        <a:latin typeface="Arial"/>
                      </a:endParaRPr>
                    </a:p>
                  </a:txBody>
                  <a:tcPr anchor="ctr"/>
                </a:tc>
                <a:tc>
                  <a:txBody>
                    <a:bodyPr/>
                    <a:lstStyle/>
                    <a:p>
                      <a:pPr algn="ctr">
                        <a:spcAft>
                          <a:spcPts val="0"/>
                        </a:spcAft>
                      </a:pPr>
                      <a:r>
                        <a:rPr sz="1000" b="0"/>
                        <a:t>1,306 bank customers; transaction records</a:t>
                      </a:r>
                      <a:endParaRPr sz="1000" b="0">
                        <a:latin typeface="Arial"/>
                      </a:endParaRPr>
                    </a:p>
                  </a:txBody>
                  <a:tcPr anchor="ctr"/>
                </a:tc>
                <a:tc>
                  <a:txBody>
                    <a:bodyPr/>
                    <a:lstStyle/>
                    <a:p>
                      <a:pPr algn="ctr">
                        <a:spcAft>
                          <a:spcPts val="0"/>
                        </a:spcAft>
                      </a:pPr>
                      <a:r>
                        <a:rPr sz="1000" b="0"/>
                        <a:t>Transaction amount; temporal behavior; categories</a:t>
                      </a:r>
                      <a:endParaRPr sz="1000" b="0">
                        <a:latin typeface="Arial"/>
                      </a:endParaRPr>
                    </a:p>
                  </a:txBody>
                  <a:tcPr anchor="ctr"/>
                </a:tc>
                <a:tc>
                  <a:txBody>
                    <a:bodyPr/>
                    <a:lstStyle/>
                    <a:p>
                      <a:pPr algn="ctr">
                        <a:spcAft>
                          <a:spcPts val="0"/>
                        </a:spcAft>
                      </a:pPr>
                      <a:r>
                        <a:rPr sz="1000" b="0"/>
                        <a:t>Temporal and category-based spending features provide behavioral signals</a:t>
                      </a:r>
                      <a:endParaRPr sz="1000" b="0">
                        <a:latin typeface="Arial"/>
                      </a:endParaRPr>
                    </a:p>
                  </a:txBody>
                  <a:tcPr anchor="ctr"/>
                </a:tc>
                <a:tc>
                  <a:txBody>
                    <a:bodyPr/>
                    <a:lstStyle/>
                    <a:p>
                      <a:pPr algn="ctr">
                        <a:spcAft>
                          <a:spcPts val="0"/>
                        </a:spcAft>
                      </a:pPr>
                      <a:r>
                        <a:rPr sz="1000" b="0"/>
                        <a:t>Focuses on psychological inference rather than practical personal-finance decision support</a:t>
                      </a:r>
                      <a:endParaRPr sz="1000" b="0">
                        <a:latin typeface="Arial"/>
                      </a:endParaRPr>
                    </a:p>
                  </a:txBody>
                  <a:tcPr anchor="ctr"/>
                </a:tc>
                <a:tc>
                  <a:txBody>
                    <a:bodyPr/>
                    <a:lstStyle/>
                    <a:p>
                      <a:pPr algn="ctr">
                        <a:spcAft>
                          <a:spcPts val="0"/>
                        </a:spcAft>
                      </a:pPr>
                      <a:r>
                        <a:rPr sz="1000" b="0"/>
                        <a:t>10.1140/epjds/s13688-021-00281-y</a:t>
                      </a:r>
                      <a:endParaRPr sz="1000" b="0">
                        <a:latin typeface="Arial"/>
                      </a:endParaRPr>
                    </a:p>
                  </a:txBody>
                  <a:tcPr anchor="ctr"/>
                </a:tc>
                <a:extLst>
                  <a:ext uri="{0D108BD9-81ED-4DB2-BD59-A6C34878D82A}">
                    <a16:rowId xmlns:a16="http://schemas.microsoft.com/office/drawing/2014/main" val="10004"/>
                  </a:ext>
                </a:extLst>
              </a:tr>
              <a:tr h="861060">
                <a:tc>
                  <a:txBody>
                    <a:bodyPr/>
                    <a:lstStyle/>
                    <a:p>
                      <a:pPr algn="ctr">
                        <a:spcAft>
                          <a:spcPts val="0"/>
                        </a:spcAft>
                      </a:pPr>
                      <a:r>
                        <a:rPr sz="1000" b="0"/>
                        <a:t>5</a:t>
                      </a:r>
                      <a:endParaRPr sz="1000" b="0">
                        <a:latin typeface="Arial"/>
                      </a:endParaRPr>
                    </a:p>
                  </a:txBody>
                  <a:tcPr anchor="ctr"/>
                </a:tc>
                <a:tc>
                  <a:txBody>
                    <a:bodyPr/>
                    <a:lstStyle/>
                    <a:p>
                      <a:pPr algn="ctr">
                        <a:spcAft>
                          <a:spcPts val="0"/>
                        </a:spcAft>
                      </a:pPr>
                      <a:r>
                        <a:rPr sz="1000" b="0"/>
                        <a:t>2021</a:t>
                      </a:r>
                      <a:endParaRPr sz="1000" b="0">
                        <a:latin typeface="Arial"/>
                      </a:endParaRPr>
                    </a:p>
                  </a:txBody>
                  <a:tcPr anchor="ctr"/>
                </a:tc>
                <a:tc>
                  <a:txBody>
                    <a:bodyPr/>
                    <a:lstStyle/>
                    <a:p>
                      <a:pPr algn="ctr">
                        <a:spcAft>
                          <a:spcPts val="0"/>
                        </a:spcAft>
                      </a:pPr>
                      <a:r>
                        <a:rPr sz="1000" b="0"/>
                        <a:t>Maree, C.; Omlin, C.W.</a:t>
                      </a:r>
                      <a:endParaRPr sz="1000" b="0">
                        <a:latin typeface="Arial"/>
                      </a:endParaRPr>
                    </a:p>
                  </a:txBody>
                  <a:tcPr anchor="ctr"/>
                </a:tc>
                <a:tc>
                  <a:txBody>
                    <a:bodyPr/>
                    <a:lstStyle/>
                    <a:p>
                      <a:pPr algn="ctr">
                        <a:spcAft>
                          <a:spcPts val="0"/>
                        </a:spcAft>
                      </a:pPr>
                      <a:r>
                        <a:rPr sz="1000" b="0"/>
                        <a:t>Understanding Spending Behavior: Recurrent Neural Network Explanation and Interpretation</a:t>
                      </a:r>
                      <a:endParaRPr sz="1000" b="0">
                        <a:latin typeface="Arial"/>
                      </a:endParaRPr>
                    </a:p>
                  </a:txBody>
                  <a:tcPr anchor="ctr"/>
                </a:tc>
                <a:tc>
                  <a:txBody>
                    <a:bodyPr/>
                    <a:lstStyle/>
                    <a:p>
                      <a:pPr algn="ctr">
                        <a:spcAft>
                          <a:spcPts val="0"/>
                        </a:spcAft>
                      </a:pPr>
                      <a:r>
                        <a:rPr sz="1000" b="0"/>
                        <a:t>IEEE / arXiv</a:t>
                      </a:r>
                      <a:endParaRPr sz="1000" b="0">
                        <a:latin typeface="Arial"/>
                      </a:endParaRPr>
                    </a:p>
                  </a:txBody>
                  <a:tcPr anchor="ctr"/>
                </a:tc>
                <a:tc>
                  <a:txBody>
                    <a:bodyPr/>
                    <a:lstStyle/>
                    <a:p>
                      <a:pPr algn="ctr">
                        <a:spcAft>
                          <a:spcPts val="0"/>
                        </a:spcAft>
                      </a:pPr>
                      <a:r>
                        <a:rPr sz="1000" b="0"/>
                        <a:t>Interpret temporal spending representations learned by RNNs</a:t>
                      </a:r>
                      <a:endParaRPr sz="1000" b="0">
                        <a:latin typeface="Arial"/>
                      </a:endParaRPr>
                    </a:p>
                  </a:txBody>
                  <a:tcPr anchor="ctr"/>
                </a:tc>
                <a:tc>
                  <a:txBody>
                    <a:bodyPr/>
                    <a:lstStyle/>
                    <a:p>
                      <a:pPr algn="ctr">
                        <a:spcAft>
                          <a:spcPts val="0"/>
                        </a:spcAft>
                      </a:pPr>
                      <a:r>
                        <a:rPr sz="1000" b="0"/>
                        <a:t>RNN; linear regression; state-space analysis</a:t>
                      </a:r>
                      <a:endParaRPr sz="1000" b="0">
                        <a:latin typeface="Arial"/>
                      </a:endParaRPr>
                    </a:p>
                  </a:txBody>
                  <a:tcPr anchor="ctr"/>
                </a:tc>
                <a:tc>
                  <a:txBody>
                    <a:bodyPr/>
                    <a:lstStyle/>
                    <a:p>
                      <a:pPr algn="ctr">
                        <a:spcAft>
                          <a:spcPts val="0"/>
                        </a:spcAft>
                      </a:pPr>
                      <a:r>
                        <a:rPr sz="1000" b="0"/>
                        <a:t>Financial transaction data</a:t>
                      </a:r>
                      <a:endParaRPr sz="1000" b="0">
                        <a:latin typeface="Arial"/>
                      </a:endParaRPr>
                    </a:p>
                  </a:txBody>
                  <a:tcPr anchor="ctr"/>
                </a:tc>
                <a:tc>
                  <a:txBody>
                    <a:bodyPr/>
                    <a:lstStyle/>
                    <a:p>
                      <a:pPr algn="ctr">
                        <a:spcAft>
                          <a:spcPts val="0"/>
                        </a:spcAft>
                      </a:pPr>
                      <a:r>
                        <a:rPr sz="1000" b="0"/>
                        <a:t>Temporal spending features; customer behavior</a:t>
                      </a:r>
                      <a:endParaRPr sz="1000" b="0">
                        <a:latin typeface="Arial"/>
                      </a:endParaRPr>
                    </a:p>
                  </a:txBody>
                  <a:tcPr anchor="ctr"/>
                </a:tc>
                <a:tc>
                  <a:txBody>
                    <a:bodyPr/>
                    <a:lstStyle/>
                    <a:p>
                      <a:pPr algn="ctr">
                        <a:spcAft>
                          <a:spcPts val="0"/>
                        </a:spcAft>
                      </a:pPr>
                      <a:r>
                        <a:rPr sz="1000" b="0"/>
                        <a:t>RNN representations can capture and explain spending dynamics</a:t>
                      </a:r>
                      <a:endParaRPr sz="1000" b="0">
                        <a:latin typeface="Arial"/>
                      </a:endParaRPr>
                    </a:p>
                  </a:txBody>
                  <a:tcPr anchor="ctr"/>
                </a:tc>
                <a:tc>
                  <a:txBody>
                    <a:bodyPr/>
                    <a:lstStyle/>
                    <a:p>
                      <a:pPr algn="ctr">
                        <a:spcAft>
                          <a:spcPts val="0"/>
                        </a:spcAft>
                      </a:pPr>
                      <a:r>
                        <a:rPr sz="1000" b="0"/>
                        <a:t>Complex modeling; not an integrated everyday expense-management framework</a:t>
                      </a:r>
                      <a:endParaRPr sz="1000" b="0">
                        <a:latin typeface="Arial"/>
                      </a:endParaRPr>
                    </a:p>
                  </a:txBody>
                  <a:tcPr anchor="ctr"/>
                </a:tc>
                <a:tc>
                  <a:txBody>
                    <a:bodyPr/>
                    <a:lstStyle/>
                    <a:p>
                      <a:pPr algn="ctr">
                        <a:spcAft>
                          <a:spcPts val="0"/>
                        </a:spcAft>
                      </a:pPr>
                      <a:r>
                        <a:rPr sz="1000" b="0" dirty="0"/>
                        <a:t>10.48550/arXiv.2109.11871</a:t>
                      </a:r>
                      <a:endParaRPr sz="1000" b="0" dirty="0">
                        <a:latin typeface="Arial"/>
                      </a:endParaRPr>
                    </a:p>
                  </a:txBody>
                  <a:tcPr anchor="ctr"/>
                </a:tc>
                <a:extLst>
                  <a:ext uri="{0D108BD9-81ED-4DB2-BD59-A6C34878D82A}">
                    <a16:rowId xmlns:a16="http://schemas.microsoft.com/office/drawing/2014/main" val="10005"/>
                  </a:ext>
                </a:extLst>
              </a:tr>
            </a:tbl>
          </a:graphicData>
        </a:graphic>
      </p:graphicFrame>
      <p:sp>
        <p:nvSpPr>
          <p:cNvPr id="5" name="TextBox 4"/>
          <p:cNvSpPr txBox="1"/>
          <p:nvPr/>
        </p:nvSpPr>
        <p:spPr>
          <a:xfrm>
            <a:off x="320040" y="6336792"/>
            <a:ext cx="11521440" cy="228600"/>
          </a:xfrm>
          <a:prstGeom prst="rect">
            <a:avLst/>
          </a:prstGeom>
          <a:noFill/>
        </p:spPr>
        <p:txBody>
          <a:bodyPr wrap="none">
            <a:spAutoFit/>
          </a:bodyPr>
          <a:lstStyle/>
          <a:p>
            <a:pPr algn="r"/>
            <a:r>
              <a:rPr sz="800">
                <a:latin typeface="Arial"/>
              </a:rPr>
              <a:t>PRC-I  |  Literature Survey  |  1/3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137160"/>
            <a:ext cx="11521440" cy="502920"/>
          </a:xfrm>
          <a:prstGeom prst="rect">
            <a:avLst/>
          </a:prstGeom>
          <a:noFill/>
        </p:spPr>
        <p:txBody>
          <a:bodyPr wrap="none">
            <a:spAutoFit/>
          </a:bodyPr>
          <a:lstStyle/>
          <a:p>
            <a:pPr algn="ctr"/>
            <a:r>
              <a:rPr sz="2800" b="1">
                <a:latin typeface="Arial"/>
              </a:rPr>
              <a:t>Literature Survey</a:t>
            </a:r>
          </a:p>
        </p:txBody>
      </p:sp>
      <p:sp>
        <p:nvSpPr>
          <p:cNvPr id="3" name="TextBox 2"/>
          <p:cNvSpPr txBox="1"/>
          <p:nvPr/>
        </p:nvSpPr>
        <p:spPr>
          <a:xfrm>
            <a:off x="320040" y="621792"/>
            <a:ext cx="11521440" cy="256032"/>
          </a:xfrm>
          <a:prstGeom prst="rect">
            <a:avLst/>
          </a:prstGeom>
          <a:noFill/>
        </p:spPr>
        <p:txBody>
          <a:bodyPr wrap="none">
            <a:spAutoFit/>
          </a:bodyPr>
          <a:lstStyle/>
          <a:p>
            <a:pPr algn="ctr"/>
            <a:r>
              <a:rPr sz="900" i="1">
                <a:latin typeface="Arial"/>
              </a:rPr>
              <a:t>Relevant studies — Papers 6–10</a:t>
            </a:r>
          </a:p>
        </p:txBody>
      </p:sp>
      <p:graphicFrame>
        <p:nvGraphicFramePr>
          <p:cNvPr id="4" name="Table 3"/>
          <p:cNvGraphicFramePr>
            <a:graphicFrameLocks noGrp="1"/>
          </p:cNvGraphicFramePr>
          <p:nvPr/>
        </p:nvGraphicFramePr>
        <p:xfrm>
          <a:off x="0" y="0"/>
          <a:ext cx="12192001" cy="6883315"/>
        </p:xfrm>
        <a:graphic>
          <a:graphicData uri="http://schemas.openxmlformats.org/drawingml/2006/table">
            <a:tbl>
              <a:tblPr firstRow="1" bandRow="1">
                <a:tableStyleId>{073A0DAA-6AF3-43AB-8588-CEC1D06C72B9}</a:tableStyleId>
              </a:tblPr>
              <a:tblGrid>
                <a:gridCol w="375965">
                  <a:extLst>
                    <a:ext uri="{9D8B030D-6E8A-4147-A177-3AD203B41FA5}">
                      <a16:colId xmlns:a16="http://schemas.microsoft.com/office/drawing/2014/main" val="20000"/>
                    </a:ext>
                  </a:extLst>
                </a:gridCol>
                <a:gridCol w="483384">
                  <a:extLst>
                    <a:ext uri="{9D8B030D-6E8A-4147-A177-3AD203B41FA5}">
                      <a16:colId xmlns:a16="http://schemas.microsoft.com/office/drawing/2014/main" val="20001"/>
                    </a:ext>
                  </a:extLst>
                </a:gridCol>
                <a:gridCol w="966765">
                  <a:extLst>
                    <a:ext uri="{9D8B030D-6E8A-4147-A177-3AD203B41FA5}">
                      <a16:colId xmlns:a16="http://schemas.microsoft.com/office/drawing/2014/main" val="20002"/>
                    </a:ext>
                  </a:extLst>
                </a:gridCol>
                <a:gridCol w="1664986">
                  <a:extLst>
                    <a:ext uri="{9D8B030D-6E8A-4147-A177-3AD203B41FA5}">
                      <a16:colId xmlns:a16="http://schemas.microsoft.com/office/drawing/2014/main" val="20003"/>
                    </a:ext>
                  </a:extLst>
                </a:gridCol>
                <a:gridCol w="1127895">
                  <a:extLst>
                    <a:ext uri="{9D8B030D-6E8A-4147-A177-3AD203B41FA5}">
                      <a16:colId xmlns:a16="http://schemas.microsoft.com/office/drawing/2014/main" val="20004"/>
                    </a:ext>
                  </a:extLst>
                </a:gridCol>
                <a:gridCol w="1235314">
                  <a:extLst>
                    <a:ext uri="{9D8B030D-6E8A-4147-A177-3AD203B41FA5}">
                      <a16:colId xmlns:a16="http://schemas.microsoft.com/office/drawing/2014/main" val="20005"/>
                    </a:ext>
                  </a:extLst>
                </a:gridCol>
                <a:gridCol w="1020475">
                  <a:extLst>
                    <a:ext uri="{9D8B030D-6E8A-4147-A177-3AD203B41FA5}">
                      <a16:colId xmlns:a16="http://schemas.microsoft.com/office/drawing/2014/main" val="20006"/>
                    </a:ext>
                  </a:extLst>
                </a:gridCol>
                <a:gridCol w="859348">
                  <a:extLst>
                    <a:ext uri="{9D8B030D-6E8A-4147-A177-3AD203B41FA5}">
                      <a16:colId xmlns:a16="http://schemas.microsoft.com/office/drawing/2014/main" val="20007"/>
                    </a:ext>
                  </a:extLst>
                </a:gridCol>
                <a:gridCol w="966765">
                  <a:extLst>
                    <a:ext uri="{9D8B030D-6E8A-4147-A177-3AD203B41FA5}">
                      <a16:colId xmlns:a16="http://schemas.microsoft.com/office/drawing/2014/main" val="20008"/>
                    </a:ext>
                  </a:extLst>
                </a:gridCol>
                <a:gridCol w="1181604">
                  <a:extLst>
                    <a:ext uri="{9D8B030D-6E8A-4147-A177-3AD203B41FA5}">
                      <a16:colId xmlns:a16="http://schemas.microsoft.com/office/drawing/2014/main" val="20009"/>
                    </a:ext>
                  </a:extLst>
                </a:gridCol>
                <a:gridCol w="1235314">
                  <a:extLst>
                    <a:ext uri="{9D8B030D-6E8A-4147-A177-3AD203B41FA5}">
                      <a16:colId xmlns:a16="http://schemas.microsoft.com/office/drawing/2014/main" val="20010"/>
                    </a:ext>
                  </a:extLst>
                </a:gridCol>
                <a:gridCol w="1074186">
                  <a:extLst>
                    <a:ext uri="{9D8B030D-6E8A-4147-A177-3AD203B41FA5}">
                      <a16:colId xmlns:a16="http://schemas.microsoft.com/office/drawing/2014/main" val="20011"/>
                    </a:ext>
                  </a:extLst>
                </a:gridCol>
              </a:tblGrid>
              <a:tr h="645763">
                <a:tc>
                  <a:txBody>
                    <a:bodyPr/>
                    <a:lstStyle/>
                    <a:p>
                      <a:pPr algn="ctr">
                        <a:spcAft>
                          <a:spcPts val="0"/>
                        </a:spcAft>
                      </a:pPr>
                      <a:r>
                        <a:rPr sz="1100" b="1"/>
                        <a:t>Sl No</a:t>
                      </a:r>
                      <a:endParaRPr sz="1100" b="1">
                        <a:latin typeface="Arial"/>
                      </a:endParaRPr>
                    </a:p>
                  </a:txBody>
                  <a:tcPr anchor="ctr"/>
                </a:tc>
                <a:tc>
                  <a:txBody>
                    <a:bodyPr/>
                    <a:lstStyle/>
                    <a:p>
                      <a:pPr algn="ctr">
                        <a:spcAft>
                          <a:spcPts val="0"/>
                        </a:spcAft>
                      </a:pPr>
                      <a:r>
                        <a:rPr sz="1100" b="1"/>
                        <a:t>Year</a:t>
                      </a:r>
                      <a:endParaRPr sz="1100" b="1">
                        <a:latin typeface="Arial"/>
                      </a:endParaRPr>
                    </a:p>
                  </a:txBody>
                  <a:tcPr anchor="ctr"/>
                </a:tc>
                <a:tc>
                  <a:txBody>
                    <a:bodyPr/>
                    <a:lstStyle/>
                    <a:p>
                      <a:pPr algn="ctr">
                        <a:spcAft>
                          <a:spcPts val="0"/>
                        </a:spcAft>
                      </a:pPr>
                      <a:r>
                        <a:rPr sz="1100" b="1"/>
                        <a:t>Authors</a:t>
                      </a:r>
                      <a:endParaRPr sz="1100" b="1">
                        <a:latin typeface="Arial"/>
                      </a:endParaRPr>
                    </a:p>
                  </a:txBody>
                  <a:tcPr anchor="ctr"/>
                </a:tc>
                <a:tc>
                  <a:txBody>
                    <a:bodyPr/>
                    <a:lstStyle/>
                    <a:p>
                      <a:pPr algn="ctr">
                        <a:spcAft>
                          <a:spcPts val="0"/>
                        </a:spcAft>
                      </a:pPr>
                      <a:r>
                        <a:rPr sz="1100" b="1"/>
                        <a:t>Title of the paper</a:t>
                      </a:r>
                      <a:endParaRPr sz="1100" b="1">
                        <a:latin typeface="Arial"/>
                      </a:endParaRPr>
                    </a:p>
                  </a:txBody>
                  <a:tcPr anchor="ctr"/>
                </a:tc>
                <a:tc>
                  <a:txBody>
                    <a:bodyPr/>
                    <a:lstStyle/>
                    <a:p>
                      <a:pPr algn="ctr">
                        <a:spcAft>
                          <a:spcPts val="0"/>
                        </a:spcAft>
                      </a:pPr>
                      <a:r>
                        <a:rPr sz="1100" b="1"/>
                        <a:t>Source (Journal/Conference name)</a:t>
                      </a:r>
                      <a:endParaRPr sz="1100" b="1">
                        <a:latin typeface="Arial"/>
                      </a:endParaRPr>
                    </a:p>
                  </a:txBody>
                  <a:tcPr anchor="ctr"/>
                </a:tc>
                <a:tc>
                  <a:txBody>
                    <a:bodyPr/>
                    <a:lstStyle/>
                    <a:p>
                      <a:pPr algn="ctr">
                        <a:spcAft>
                          <a:spcPts val="0"/>
                        </a:spcAft>
                      </a:pPr>
                      <a:r>
                        <a:rPr sz="1100" b="1"/>
                        <a:t>Objective of the paper</a:t>
                      </a:r>
                      <a:endParaRPr sz="1100" b="1">
                        <a:latin typeface="Arial"/>
                      </a:endParaRPr>
                    </a:p>
                  </a:txBody>
                  <a:tcPr anchor="ctr"/>
                </a:tc>
                <a:tc>
                  <a:txBody>
                    <a:bodyPr/>
                    <a:lstStyle/>
                    <a:p>
                      <a:pPr algn="ctr">
                        <a:spcAft>
                          <a:spcPts val="0"/>
                        </a:spcAft>
                      </a:pPr>
                      <a:r>
                        <a:rPr sz="1100" b="1" dirty="0"/>
                        <a:t>Techniques Used</a:t>
                      </a:r>
                      <a:endParaRPr sz="1100" b="1" dirty="0">
                        <a:latin typeface="Arial"/>
                      </a:endParaRPr>
                    </a:p>
                  </a:txBody>
                  <a:tcPr anchor="ctr"/>
                </a:tc>
                <a:tc>
                  <a:txBody>
                    <a:bodyPr/>
                    <a:lstStyle/>
                    <a:p>
                      <a:pPr algn="ctr">
                        <a:spcAft>
                          <a:spcPts val="0"/>
                        </a:spcAft>
                      </a:pPr>
                      <a:r>
                        <a:rPr sz="1100" b="1"/>
                        <a:t>Dataset Used</a:t>
                      </a:r>
                      <a:endParaRPr sz="1100" b="1">
                        <a:latin typeface="Arial"/>
                      </a:endParaRPr>
                    </a:p>
                  </a:txBody>
                  <a:tcPr anchor="ctr"/>
                </a:tc>
                <a:tc>
                  <a:txBody>
                    <a:bodyPr/>
                    <a:lstStyle/>
                    <a:p>
                      <a:pPr algn="ctr">
                        <a:spcAft>
                          <a:spcPts val="0"/>
                        </a:spcAft>
                      </a:pPr>
                      <a:r>
                        <a:rPr sz="1100" b="1"/>
                        <a:t>Parameters Analysed</a:t>
                      </a:r>
                      <a:endParaRPr sz="1100" b="1">
                        <a:latin typeface="Arial"/>
                      </a:endParaRPr>
                    </a:p>
                  </a:txBody>
                  <a:tcPr anchor="ctr"/>
                </a:tc>
                <a:tc>
                  <a:txBody>
                    <a:bodyPr/>
                    <a:lstStyle/>
                    <a:p>
                      <a:pPr algn="ctr">
                        <a:spcAft>
                          <a:spcPts val="0"/>
                        </a:spcAft>
                      </a:pPr>
                      <a:r>
                        <a:rPr sz="1100" b="1"/>
                        <a:t>Research Inference</a:t>
                      </a:r>
                      <a:endParaRPr sz="1100" b="1">
                        <a:latin typeface="Arial"/>
                      </a:endParaRPr>
                    </a:p>
                  </a:txBody>
                  <a:tcPr anchor="ctr"/>
                </a:tc>
                <a:tc>
                  <a:txBody>
                    <a:bodyPr/>
                    <a:lstStyle/>
                    <a:p>
                      <a:pPr algn="ctr">
                        <a:spcAft>
                          <a:spcPts val="0"/>
                        </a:spcAft>
                      </a:pPr>
                      <a:r>
                        <a:rPr sz="1100" b="1"/>
                        <a:t>Research Gap</a:t>
                      </a:r>
                      <a:endParaRPr sz="1100" b="1">
                        <a:latin typeface="Arial"/>
                      </a:endParaRPr>
                    </a:p>
                  </a:txBody>
                  <a:tcPr anchor="ctr"/>
                </a:tc>
                <a:tc>
                  <a:txBody>
                    <a:bodyPr/>
                    <a:lstStyle/>
                    <a:p>
                      <a:pPr algn="ctr">
                        <a:spcAft>
                          <a:spcPts val="0"/>
                        </a:spcAft>
                      </a:pPr>
                      <a:r>
                        <a:rPr sz="1100" b="1" dirty="0"/>
                        <a:t>DOI of the paper</a:t>
                      </a:r>
                      <a:endParaRPr sz="1100" b="1" dirty="0">
                        <a:latin typeface="Arial"/>
                      </a:endParaRPr>
                    </a:p>
                  </a:txBody>
                  <a:tcPr anchor="ctr"/>
                </a:tc>
                <a:extLst>
                  <a:ext uri="{0D108BD9-81ED-4DB2-BD59-A6C34878D82A}">
                    <a16:rowId xmlns:a16="http://schemas.microsoft.com/office/drawing/2014/main" val="10000"/>
                  </a:ext>
                </a:extLst>
              </a:tr>
              <a:tr h="1356102">
                <a:tc>
                  <a:txBody>
                    <a:bodyPr/>
                    <a:lstStyle/>
                    <a:p>
                      <a:pPr algn="ctr">
                        <a:spcAft>
                          <a:spcPts val="0"/>
                        </a:spcAft>
                      </a:pPr>
                      <a:r>
                        <a:rPr sz="1100" b="0"/>
                        <a:t>6</a:t>
                      </a:r>
                      <a:endParaRPr sz="1100" b="0">
                        <a:latin typeface="Arial"/>
                      </a:endParaRPr>
                    </a:p>
                  </a:txBody>
                  <a:tcPr anchor="ctr"/>
                </a:tc>
                <a:tc>
                  <a:txBody>
                    <a:bodyPr/>
                    <a:lstStyle/>
                    <a:p>
                      <a:pPr algn="ctr">
                        <a:spcAft>
                          <a:spcPts val="0"/>
                        </a:spcAft>
                      </a:pPr>
                      <a:r>
                        <a:rPr sz="1100" b="0"/>
                        <a:t>2021</a:t>
                      </a:r>
                      <a:endParaRPr sz="1100" b="0">
                        <a:latin typeface="Arial"/>
                      </a:endParaRPr>
                    </a:p>
                  </a:txBody>
                  <a:tcPr anchor="ctr"/>
                </a:tc>
                <a:tc>
                  <a:txBody>
                    <a:bodyPr/>
                    <a:lstStyle/>
                    <a:p>
                      <a:pPr algn="ctr">
                        <a:spcAft>
                          <a:spcPts val="0"/>
                        </a:spcAft>
                      </a:pPr>
                      <a:r>
                        <a:rPr sz="1100" b="0"/>
                        <a:t>Garcia, M.B.; Claour, J.P.</a:t>
                      </a:r>
                      <a:endParaRPr sz="1100" b="0">
                        <a:latin typeface="Arial"/>
                      </a:endParaRPr>
                    </a:p>
                  </a:txBody>
                  <a:tcPr anchor="ctr"/>
                </a:tc>
                <a:tc>
                  <a:txBody>
                    <a:bodyPr/>
                    <a:lstStyle/>
                    <a:p>
                      <a:pPr algn="ctr">
                        <a:spcAft>
                          <a:spcPts val="0"/>
                        </a:spcAft>
                      </a:pPr>
                      <a:r>
                        <a:rPr sz="1100" b="0" dirty="0"/>
                        <a:t>Mobile Bookkeeper: Personal Financial Management Application with Receipt Scanner Using Optical Character Recognition</a:t>
                      </a:r>
                      <a:endParaRPr sz="1100" b="0" dirty="0">
                        <a:latin typeface="Arial"/>
                      </a:endParaRPr>
                    </a:p>
                  </a:txBody>
                  <a:tcPr anchor="ctr"/>
                </a:tc>
                <a:tc>
                  <a:txBody>
                    <a:bodyPr/>
                    <a:lstStyle/>
                    <a:p>
                      <a:pPr algn="ctr">
                        <a:spcAft>
                          <a:spcPts val="0"/>
                        </a:spcAft>
                      </a:pPr>
                      <a:r>
                        <a:rPr sz="1100" b="0"/>
                        <a:t>2021 OT4ME</a:t>
                      </a:r>
                      <a:endParaRPr sz="1100" b="0">
                        <a:latin typeface="Arial"/>
                      </a:endParaRPr>
                    </a:p>
                  </a:txBody>
                  <a:tcPr anchor="ctr"/>
                </a:tc>
                <a:tc>
                  <a:txBody>
                    <a:bodyPr/>
                    <a:lstStyle/>
                    <a:p>
                      <a:pPr algn="ctr">
                        <a:spcAft>
                          <a:spcPts val="0"/>
                        </a:spcAft>
                      </a:pPr>
                      <a:r>
                        <a:rPr sz="1100" b="0"/>
                        <a:t>Automate receipt-based expense recording</a:t>
                      </a:r>
                      <a:endParaRPr sz="1100" b="0">
                        <a:latin typeface="Arial"/>
                      </a:endParaRPr>
                    </a:p>
                  </a:txBody>
                  <a:tcPr anchor="ctr"/>
                </a:tc>
                <a:tc>
                  <a:txBody>
                    <a:bodyPr/>
                    <a:lstStyle/>
                    <a:p>
                      <a:pPr algn="ctr">
                        <a:spcAft>
                          <a:spcPts val="0"/>
                        </a:spcAft>
                      </a:pPr>
                      <a:r>
                        <a:rPr sz="1100" b="0"/>
                        <a:t>OCR; mobile application</a:t>
                      </a:r>
                      <a:endParaRPr sz="1100" b="0">
                        <a:latin typeface="Arial"/>
                      </a:endParaRPr>
                    </a:p>
                  </a:txBody>
                  <a:tcPr anchor="ctr"/>
                </a:tc>
                <a:tc>
                  <a:txBody>
                    <a:bodyPr/>
                    <a:lstStyle/>
                    <a:p>
                      <a:pPr algn="ctr">
                        <a:spcAft>
                          <a:spcPts val="0"/>
                        </a:spcAft>
                      </a:pPr>
                      <a:r>
                        <a:rPr sz="1100" b="0"/>
                        <a:t>Receipt images; user transactions</a:t>
                      </a:r>
                      <a:endParaRPr sz="1100" b="0">
                        <a:latin typeface="Arial"/>
                      </a:endParaRPr>
                    </a:p>
                  </a:txBody>
                  <a:tcPr anchor="ctr"/>
                </a:tc>
                <a:tc>
                  <a:txBody>
                    <a:bodyPr/>
                    <a:lstStyle/>
                    <a:p>
                      <a:pPr algn="ctr">
                        <a:spcAft>
                          <a:spcPts val="0"/>
                        </a:spcAft>
                      </a:pPr>
                      <a:r>
                        <a:rPr sz="1100" b="0" dirty="0"/>
                        <a:t>OCR accuracy; usability; user satisfaction</a:t>
                      </a:r>
                      <a:endParaRPr sz="1100" b="0" dirty="0">
                        <a:latin typeface="Arial"/>
                      </a:endParaRPr>
                    </a:p>
                  </a:txBody>
                  <a:tcPr anchor="ctr"/>
                </a:tc>
                <a:tc>
                  <a:txBody>
                    <a:bodyPr/>
                    <a:lstStyle/>
                    <a:p>
                      <a:pPr algn="ctr">
                        <a:spcAft>
                          <a:spcPts val="0"/>
                        </a:spcAft>
                      </a:pPr>
                      <a:r>
                        <a:rPr sz="1100" b="0"/>
                        <a:t>Receipt scanning reduces manual entry and supports expense reporting</a:t>
                      </a:r>
                      <a:endParaRPr sz="1100" b="0">
                        <a:latin typeface="Arial"/>
                      </a:endParaRPr>
                    </a:p>
                  </a:txBody>
                  <a:tcPr anchor="ctr"/>
                </a:tc>
                <a:tc>
                  <a:txBody>
                    <a:bodyPr/>
                    <a:lstStyle/>
                    <a:p>
                      <a:pPr algn="ctr">
                        <a:spcAft>
                          <a:spcPts val="0"/>
                        </a:spcAft>
                      </a:pPr>
                      <a:r>
                        <a:rPr sz="1100" b="0"/>
                        <a:t>Primarily focuses on receipt capture; limited behavioral analytics and intelligent recommendations</a:t>
                      </a:r>
                      <a:endParaRPr sz="1100" b="0">
                        <a:latin typeface="Arial"/>
                      </a:endParaRPr>
                    </a:p>
                  </a:txBody>
                  <a:tcPr anchor="ctr"/>
                </a:tc>
                <a:tc>
                  <a:txBody>
                    <a:bodyPr/>
                    <a:lstStyle/>
                    <a:p>
                      <a:pPr algn="ctr">
                        <a:spcAft>
                          <a:spcPts val="0"/>
                        </a:spcAft>
                      </a:pPr>
                      <a:r>
                        <a:rPr sz="1100" b="0"/>
                        <a:t>10.1109/OT4ME53559.2021.9638794</a:t>
                      </a:r>
                      <a:endParaRPr sz="1100" b="0">
                        <a:latin typeface="Arial"/>
                      </a:endParaRPr>
                    </a:p>
                  </a:txBody>
                  <a:tcPr anchor="ctr"/>
                </a:tc>
                <a:extLst>
                  <a:ext uri="{0D108BD9-81ED-4DB2-BD59-A6C34878D82A}">
                    <a16:rowId xmlns:a16="http://schemas.microsoft.com/office/drawing/2014/main" val="10001"/>
                  </a:ext>
                </a:extLst>
              </a:tr>
              <a:tr h="1214034">
                <a:tc>
                  <a:txBody>
                    <a:bodyPr/>
                    <a:lstStyle/>
                    <a:p>
                      <a:pPr algn="ctr">
                        <a:spcAft>
                          <a:spcPts val="0"/>
                        </a:spcAft>
                      </a:pPr>
                      <a:r>
                        <a:rPr sz="1100" b="0"/>
                        <a:t>7</a:t>
                      </a:r>
                      <a:endParaRPr sz="1100" b="0">
                        <a:latin typeface="Arial"/>
                      </a:endParaRPr>
                    </a:p>
                  </a:txBody>
                  <a:tcPr anchor="ctr"/>
                </a:tc>
                <a:tc>
                  <a:txBody>
                    <a:bodyPr/>
                    <a:lstStyle/>
                    <a:p>
                      <a:pPr algn="ctr">
                        <a:spcAft>
                          <a:spcPts val="0"/>
                        </a:spcAft>
                      </a:pPr>
                      <a:r>
                        <a:rPr sz="1100" b="0"/>
                        <a:t>2021</a:t>
                      </a:r>
                      <a:endParaRPr sz="1100" b="0">
                        <a:latin typeface="Arial"/>
                      </a:endParaRPr>
                    </a:p>
                  </a:txBody>
                  <a:tcPr anchor="ctr"/>
                </a:tc>
                <a:tc>
                  <a:txBody>
                    <a:bodyPr/>
                    <a:lstStyle/>
                    <a:p>
                      <a:pPr algn="ctr">
                        <a:spcAft>
                          <a:spcPts val="0"/>
                        </a:spcAft>
                      </a:pPr>
                      <a:r>
                        <a:rPr sz="1100" b="0"/>
                        <a:t>Rodrigues, L.F. et al.</a:t>
                      </a:r>
                      <a:endParaRPr sz="1100" b="0">
                        <a:latin typeface="Arial"/>
                      </a:endParaRPr>
                    </a:p>
                  </a:txBody>
                  <a:tcPr anchor="ctr"/>
                </a:tc>
                <a:tc>
                  <a:txBody>
                    <a:bodyPr/>
                    <a:lstStyle/>
                    <a:p>
                      <a:pPr algn="ctr">
                        <a:spcAft>
                          <a:spcPts val="0"/>
                        </a:spcAft>
                      </a:pPr>
                      <a:r>
                        <a:rPr sz="1100" b="0" dirty="0"/>
                        <a:t>Making Finance Fun: The Gamification of Personal Financial Management Apps</a:t>
                      </a:r>
                      <a:endParaRPr sz="1100" b="0" dirty="0">
                        <a:latin typeface="Arial"/>
                      </a:endParaRPr>
                    </a:p>
                  </a:txBody>
                  <a:tcPr anchor="ctr"/>
                </a:tc>
                <a:tc>
                  <a:txBody>
                    <a:bodyPr/>
                    <a:lstStyle/>
                    <a:p>
                      <a:pPr algn="ctr">
                        <a:spcAft>
                          <a:spcPts val="0"/>
                        </a:spcAft>
                      </a:pPr>
                      <a:r>
                        <a:rPr sz="1100" b="0"/>
                        <a:t>International Journal of Bank Marketing</a:t>
                      </a:r>
                      <a:endParaRPr sz="1100" b="0">
                        <a:latin typeface="Arial"/>
                      </a:endParaRPr>
                    </a:p>
                  </a:txBody>
                  <a:tcPr anchor="ctr"/>
                </a:tc>
                <a:tc>
                  <a:txBody>
                    <a:bodyPr/>
                    <a:lstStyle/>
                    <a:p>
                      <a:pPr algn="ctr">
                        <a:spcAft>
                          <a:spcPts val="0"/>
                        </a:spcAft>
                      </a:pPr>
                      <a:r>
                        <a:rPr sz="1100" b="0"/>
                        <a:t>Study how gamification affects PFM-app adoption and motivation</a:t>
                      </a:r>
                      <a:endParaRPr sz="1100" b="0">
                        <a:latin typeface="Arial"/>
                      </a:endParaRPr>
                    </a:p>
                  </a:txBody>
                  <a:tcPr anchor="ctr"/>
                </a:tc>
                <a:tc>
                  <a:txBody>
                    <a:bodyPr/>
                    <a:lstStyle/>
                    <a:p>
                      <a:pPr algn="ctr">
                        <a:spcAft>
                          <a:spcPts val="0"/>
                        </a:spcAft>
                      </a:pPr>
                      <a:r>
                        <a:rPr sz="1100" b="0"/>
                        <a:t>TAM; Self-Determination Theory; PLS-SEM</a:t>
                      </a:r>
                      <a:endParaRPr sz="1100" b="0">
                        <a:latin typeface="Arial"/>
                      </a:endParaRPr>
                    </a:p>
                  </a:txBody>
                  <a:tcPr anchor="ctr"/>
                </a:tc>
                <a:tc>
                  <a:txBody>
                    <a:bodyPr/>
                    <a:lstStyle/>
                    <a:p>
                      <a:pPr algn="ctr">
                        <a:spcAft>
                          <a:spcPts val="0"/>
                        </a:spcAft>
                      </a:pPr>
                      <a:r>
                        <a:rPr sz="1100" b="0"/>
                        <a:t>208 Mint app users</a:t>
                      </a:r>
                      <a:endParaRPr sz="1100" b="0">
                        <a:latin typeface="Arial"/>
                      </a:endParaRPr>
                    </a:p>
                  </a:txBody>
                  <a:tcPr anchor="ctr"/>
                </a:tc>
                <a:tc>
                  <a:txBody>
                    <a:bodyPr/>
                    <a:lstStyle/>
                    <a:p>
                      <a:pPr algn="ctr">
                        <a:spcAft>
                          <a:spcPts val="0"/>
                        </a:spcAft>
                      </a:pPr>
                      <a:r>
                        <a:rPr sz="1100" b="0"/>
                        <a:t>Motivation; usefulness; ease of use; adoption intention</a:t>
                      </a:r>
                      <a:endParaRPr sz="1100" b="0">
                        <a:latin typeface="Arial"/>
                      </a:endParaRPr>
                    </a:p>
                  </a:txBody>
                  <a:tcPr anchor="ctr"/>
                </a:tc>
                <a:tc>
                  <a:txBody>
                    <a:bodyPr/>
                    <a:lstStyle/>
                    <a:p>
                      <a:pPr algn="ctr">
                        <a:spcAft>
                          <a:spcPts val="0"/>
                        </a:spcAft>
                      </a:pPr>
                      <a:r>
                        <a:rPr sz="1100" b="0"/>
                        <a:t>Gamification can improve motivation and intention to use PFM apps</a:t>
                      </a:r>
                      <a:endParaRPr sz="1100" b="0">
                        <a:latin typeface="Arial"/>
                      </a:endParaRPr>
                    </a:p>
                  </a:txBody>
                  <a:tcPr anchor="ctr"/>
                </a:tc>
                <a:tc>
                  <a:txBody>
                    <a:bodyPr/>
                    <a:lstStyle/>
                    <a:p>
                      <a:pPr algn="ctr">
                        <a:spcAft>
                          <a:spcPts val="0"/>
                        </a:spcAft>
                      </a:pPr>
                      <a:r>
                        <a:rPr sz="1100" b="0" dirty="0"/>
                        <a:t>Focuses on engagement/adoption rather than deeper financial analytics and decision support</a:t>
                      </a:r>
                      <a:endParaRPr sz="1100" b="0" dirty="0">
                        <a:latin typeface="Arial"/>
                      </a:endParaRPr>
                    </a:p>
                  </a:txBody>
                  <a:tcPr anchor="ctr"/>
                </a:tc>
                <a:tc>
                  <a:txBody>
                    <a:bodyPr/>
                    <a:lstStyle/>
                    <a:p>
                      <a:pPr algn="ctr">
                        <a:spcAft>
                          <a:spcPts val="0"/>
                        </a:spcAft>
                      </a:pPr>
                      <a:r>
                        <a:rPr sz="1100" b="0" dirty="0"/>
                        <a:t>10.1108/IJBM-02-2021-0074</a:t>
                      </a:r>
                      <a:endParaRPr sz="1100" b="0" dirty="0">
                        <a:latin typeface="Arial"/>
                      </a:endParaRPr>
                    </a:p>
                  </a:txBody>
                  <a:tcPr anchor="ctr"/>
                </a:tc>
                <a:extLst>
                  <a:ext uri="{0D108BD9-81ED-4DB2-BD59-A6C34878D82A}">
                    <a16:rowId xmlns:a16="http://schemas.microsoft.com/office/drawing/2014/main" val="10002"/>
                  </a:ext>
                </a:extLst>
              </a:tr>
              <a:tr h="1071966">
                <a:tc>
                  <a:txBody>
                    <a:bodyPr/>
                    <a:lstStyle/>
                    <a:p>
                      <a:pPr algn="ctr">
                        <a:spcAft>
                          <a:spcPts val="0"/>
                        </a:spcAft>
                      </a:pPr>
                      <a:r>
                        <a:rPr sz="1100" b="0"/>
                        <a:t>8</a:t>
                      </a:r>
                      <a:endParaRPr sz="1100" b="0">
                        <a:latin typeface="Arial"/>
                      </a:endParaRPr>
                    </a:p>
                  </a:txBody>
                  <a:tcPr anchor="ctr"/>
                </a:tc>
                <a:tc>
                  <a:txBody>
                    <a:bodyPr/>
                    <a:lstStyle/>
                    <a:p>
                      <a:pPr algn="ctr">
                        <a:spcAft>
                          <a:spcPts val="0"/>
                        </a:spcAft>
                      </a:pPr>
                      <a:r>
                        <a:rPr sz="1100" b="0"/>
                        <a:t>2022</a:t>
                      </a:r>
                      <a:endParaRPr sz="1100" b="0">
                        <a:latin typeface="Arial"/>
                      </a:endParaRPr>
                    </a:p>
                  </a:txBody>
                  <a:tcPr anchor="ctr"/>
                </a:tc>
                <a:tc>
                  <a:txBody>
                    <a:bodyPr/>
                    <a:lstStyle/>
                    <a:p>
                      <a:pPr algn="ctr">
                        <a:spcAft>
                          <a:spcPts val="0"/>
                        </a:spcAft>
                      </a:pPr>
                      <a:r>
                        <a:rPr sz="1100" b="0"/>
                        <a:t>Hahn, Y.; Lee, J.; Kim, M.</a:t>
                      </a:r>
                      <a:endParaRPr sz="1100" b="0">
                        <a:latin typeface="Arial"/>
                      </a:endParaRPr>
                    </a:p>
                  </a:txBody>
                  <a:tcPr anchor="ctr"/>
                </a:tc>
                <a:tc>
                  <a:txBody>
                    <a:bodyPr/>
                    <a:lstStyle/>
                    <a:p>
                      <a:pPr algn="ctr">
                        <a:spcAft>
                          <a:spcPts val="0"/>
                        </a:spcAft>
                      </a:pPr>
                      <a:r>
                        <a:rPr sz="1100" b="0"/>
                        <a:t>Envisioning Personal Finance and Expense Tracking for a Sustainable Future</a:t>
                      </a:r>
                      <a:endParaRPr sz="1100" b="0">
                        <a:latin typeface="Arial"/>
                      </a:endParaRPr>
                    </a:p>
                  </a:txBody>
                  <a:tcPr anchor="ctr"/>
                </a:tc>
                <a:tc>
                  <a:txBody>
                    <a:bodyPr/>
                    <a:lstStyle/>
                    <a:p>
                      <a:pPr algn="ctr">
                        <a:spcAft>
                          <a:spcPts val="0"/>
                        </a:spcAft>
                      </a:pPr>
                      <a:r>
                        <a:rPr sz="1100" b="0"/>
                        <a:t>DRS2022</a:t>
                      </a:r>
                      <a:endParaRPr sz="1100" b="0">
                        <a:latin typeface="Arial"/>
                      </a:endParaRPr>
                    </a:p>
                  </a:txBody>
                  <a:tcPr anchor="ctr"/>
                </a:tc>
                <a:tc>
                  <a:txBody>
                    <a:bodyPr/>
                    <a:lstStyle/>
                    <a:p>
                      <a:pPr algn="ctr">
                        <a:spcAft>
                          <a:spcPts val="0"/>
                        </a:spcAft>
                      </a:pPr>
                      <a:r>
                        <a:rPr sz="1100" b="0"/>
                        <a:t>Improve expense tracking with peer and expert reference points</a:t>
                      </a:r>
                      <a:endParaRPr sz="1100" b="0">
                        <a:latin typeface="Arial"/>
                      </a:endParaRPr>
                    </a:p>
                  </a:txBody>
                  <a:tcPr anchor="ctr"/>
                </a:tc>
                <a:tc>
                  <a:txBody>
                    <a:bodyPr/>
                    <a:lstStyle/>
                    <a:p>
                      <a:pPr algn="ctr">
                        <a:spcAft>
                          <a:spcPts val="0"/>
                        </a:spcAft>
                      </a:pPr>
                      <a:r>
                        <a:rPr sz="1100" b="0"/>
                        <a:t>UI/UX design; survey evaluation</a:t>
                      </a:r>
                      <a:endParaRPr sz="1100" b="0">
                        <a:latin typeface="Arial"/>
                      </a:endParaRPr>
                    </a:p>
                  </a:txBody>
                  <a:tcPr anchor="ctr"/>
                </a:tc>
                <a:tc>
                  <a:txBody>
                    <a:bodyPr/>
                    <a:lstStyle/>
                    <a:p>
                      <a:pPr algn="ctr">
                        <a:spcAft>
                          <a:spcPts val="0"/>
                        </a:spcAft>
                      </a:pPr>
                      <a:r>
                        <a:rPr sz="1100" b="0"/>
                        <a:t>Young Korean adults; questionnaire</a:t>
                      </a:r>
                      <a:endParaRPr sz="1100" b="0">
                        <a:latin typeface="Arial"/>
                      </a:endParaRPr>
                    </a:p>
                  </a:txBody>
                  <a:tcPr anchor="ctr"/>
                </a:tc>
                <a:tc>
                  <a:txBody>
                    <a:bodyPr/>
                    <a:lstStyle/>
                    <a:p>
                      <a:pPr algn="ctr">
                        <a:spcAft>
                          <a:spcPts val="0"/>
                        </a:spcAft>
                      </a:pPr>
                      <a:r>
                        <a:rPr sz="1100" b="0"/>
                        <a:t>Spending trends; peer comparison; savings; sustainability</a:t>
                      </a:r>
                      <a:endParaRPr sz="1100" b="0">
                        <a:latin typeface="Arial"/>
                      </a:endParaRPr>
                    </a:p>
                  </a:txBody>
                  <a:tcPr anchor="ctr"/>
                </a:tc>
                <a:tc>
                  <a:txBody>
                    <a:bodyPr/>
                    <a:lstStyle/>
                    <a:p>
                      <a:pPr algn="ctr">
                        <a:spcAft>
                          <a:spcPts val="0"/>
                        </a:spcAft>
                      </a:pPr>
                      <a:r>
                        <a:rPr sz="1100" b="0"/>
                        <a:t>Reference points can make financial goals more understandable</a:t>
                      </a:r>
                      <a:endParaRPr sz="1100" b="0">
                        <a:latin typeface="Arial"/>
                      </a:endParaRPr>
                    </a:p>
                  </a:txBody>
                  <a:tcPr anchor="ctr"/>
                </a:tc>
                <a:tc>
                  <a:txBody>
                    <a:bodyPr/>
                    <a:lstStyle/>
                    <a:p>
                      <a:pPr algn="ctr">
                        <a:spcAft>
                          <a:spcPts val="0"/>
                        </a:spcAft>
                      </a:pPr>
                      <a:r>
                        <a:rPr sz="1100" b="0"/>
                        <a:t>Limited automated analysis and personalized intelligent recommendations</a:t>
                      </a:r>
                      <a:endParaRPr sz="1100" b="0">
                        <a:latin typeface="Arial"/>
                      </a:endParaRPr>
                    </a:p>
                  </a:txBody>
                  <a:tcPr anchor="ctr"/>
                </a:tc>
                <a:tc>
                  <a:txBody>
                    <a:bodyPr/>
                    <a:lstStyle/>
                    <a:p>
                      <a:pPr algn="ctr">
                        <a:spcAft>
                          <a:spcPts val="0"/>
                        </a:spcAft>
                      </a:pPr>
                      <a:r>
                        <a:rPr sz="1100" b="0" dirty="0"/>
                        <a:t>10.21606/drs.2022.799</a:t>
                      </a:r>
                      <a:endParaRPr sz="1100" b="0" dirty="0">
                        <a:latin typeface="Arial"/>
                      </a:endParaRPr>
                    </a:p>
                  </a:txBody>
                  <a:tcPr anchor="ctr"/>
                </a:tc>
                <a:extLst>
                  <a:ext uri="{0D108BD9-81ED-4DB2-BD59-A6C34878D82A}">
                    <a16:rowId xmlns:a16="http://schemas.microsoft.com/office/drawing/2014/main" val="10003"/>
                  </a:ext>
                </a:extLst>
              </a:tr>
              <a:tr h="1214034">
                <a:tc>
                  <a:txBody>
                    <a:bodyPr/>
                    <a:lstStyle/>
                    <a:p>
                      <a:pPr algn="ctr">
                        <a:spcAft>
                          <a:spcPts val="0"/>
                        </a:spcAft>
                      </a:pPr>
                      <a:r>
                        <a:rPr sz="1100" b="0"/>
                        <a:t>9</a:t>
                      </a:r>
                      <a:endParaRPr sz="1100" b="0">
                        <a:latin typeface="Arial"/>
                      </a:endParaRPr>
                    </a:p>
                  </a:txBody>
                  <a:tcPr anchor="ctr"/>
                </a:tc>
                <a:tc>
                  <a:txBody>
                    <a:bodyPr/>
                    <a:lstStyle/>
                    <a:p>
                      <a:pPr algn="ctr">
                        <a:spcAft>
                          <a:spcPts val="0"/>
                        </a:spcAft>
                      </a:pPr>
                      <a:r>
                        <a:rPr sz="1100" b="0"/>
                        <a:t>2022</a:t>
                      </a:r>
                      <a:endParaRPr sz="1100" b="0">
                        <a:latin typeface="Arial"/>
                      </a:endParaRPr>
                    </a:p>
                  </a:txBody>
                  <a:tcPr anchor="ctr"/>
                </a:tc>
                <a:tc>
                  <a:txBody>
                    <a:bodyPr/>
                    <a:lstStyle/>
                    <a:p>
                      <a:pPr algn="ctr">
                        <a:spcAft>
                          <a:spcPts val="0"/>
                        </a:spcAft>
                      </a:pPr>
                      <a:r>
                        <a:rPr sz="1100" b="0"/>
                        <a:t>Salsabilla, S.I. et al.</a:t>
                      </a:r>
                      <a:endParaRPr sz="1100" b="0">
                        <a:latin typeface="Arial"/>
                      </a:endParaRPr>
                    </a:p>
                  </a:txBody>
                  <a:tcPr anchor="ctr"/>
                </a:tc>
                <a:tc>
                  <a:txBody>
                    <a:bodyPr/>
                    <a:lstStyle/>
                    <a:p>
                      <a:pPr algn="ctr">
                        <a:spcAft>
                          <a:spcPts val="0"/>
                        </a:spcAft>
                      </a:pPr>
                      <a:r>
                        <a:rPr sz="1100" b="0"/>
                        <a:t>Factors Affecting Personal Financial Management</a:t>
                      </a:r>
                      <a:endParaRPr sz="1100" b="0">
                        <a:latin typeface="Arial"/>
                      </a:endParaRPr>
                    </a:p>
                  </a:txBody>
                  <a:tcPr anchor="ctr"/>
                </a:tc>
                <a:tc>
                  <a:txBody>
                    <a:bodyPr/>
                    <a:lstStyle/>
                    <a:p>
                      <a:pPr algn="ctr">
                        <a:spcAft>
                          <a:spcPts val="0"/>
                        </a:spcAft>
                      </a:pPr>
                      <a:r>
                        <a:rPr sz="1100" b="0"/>
                        <a:t>Jurnal Manajemen Bisnis</a:t>
                      </a:r>
                      <a:endParaRPr sz="1100" b="0">
                        <a:latin typeface="Arial"/>
                      </a:endParaRPr>
                    </a:p>
                  </a:txBody>
                  <a:tcPr anchor="ctr"/>
                </a:tc>
                <a:tc>
                  <a:txBody>
                    <a:bodyPr/>
                    <a:lstStyle/>
                    <a:p>
                      <a:pPr algn="ctr">
                        <a:spcAft>
                          <a:spcPts val="0"/>
                        </a:spcAft>
                      </a:pPr>
                      <a:r>
                        <a:rPr sz="1100" b="0"/>
                        <a:t>Identify factors influencing personal financial management</a:t>
                      </a:r>
                      <a:endParaRPr sz="1100" b="0">
                        <a:latin typeface="Arial"/>
                      </a:endParaRPr>
                    </a:p>
                  </a:txBody>
                  <a:tcPr anchor="ctr"/>
                </a:tc>
                <a:tc>
                  <a:txBody>
                    <a:bodyPr/>
                    <a:lstStyle/>
                    <a:p>
                      <a:pPr algn="ctr">
                        <a:spcAft>
                          <a:spcPts val="0"/>
                        </a:spcAft>
                      </a:pPr>
                      <a:r>
                        <a:rPr sz="1100" b="0"/>
                        <a:t>Survey; statistical analysis</a:t>
                      </a:r>
                      <a:endParaRPr sz="1100" b="0">
                        <a:latin typeface="Arial"/>
                      </a:endParaRPr>
                    </a:p>
                  </a:txBody>
                  <a:tcPr anchor="ctr"/>
                </a:tc>
                <a:tc>
                  <a:txBody>
                    <a:bodyPr/>
                    <a:lstStyle/>
                    <a:p>
                      <a:pPr algn="ctr">
                        <a:spcAft>
                          <a:spcPts val="0"/>
                        </a:spcAft>
                      </a:pPr>
                      <a:r>
                        <a:rPr sz="1100" b="0"/>
                        <a:t>Survey respondents</a:t>
                      </a:r>
                      <a:endParaRPr sz="1100" b="0">
                        <a:latin typeface="Arial"/>
                      </a:endParaRPr>
                    </a:p>
                  </a:txBody>
                  <a:tcPr anchor="ctr"/>
                </a:tc>
                <a:tc>
                  <a:txBody>
                    <a:bodyPr/>
                    <a:lstStyle/>
                    <a:p>
                      <a:pPr algn="ctr">
                        <a:spcAft>
                          <a:spcPts val="0"/>
                        </a:spcAft>
                      </a:pPr>
                      <a:r>
                        <a:rPr sz="1100" b="0"/>
                        <a:t>Financial knowledge; attitudes; behavior</a:t>
                      </a:r>
                      <a:endParaRPr sz="1100" b="0">
                        <a:latin typeface="Arial"/>
                      </a:endParaRPr>
                    </a:p>
                  </a:txBody>
                  <a:tcPr anchor="ctr"/>
                </a:tc>
                <a:tc>
                  <a:txBody>
                    <a:bodyPr/>
                    <a:lstStyle/>
                    <a:p>
                      <a:pPr algn="ctr">
                        <a:spcAft>
                          <a:spcPts val="0"/>
                        </a:spcAft>
                      </a:pPr>
                      <a:r>
                        <a:rPr sz="1100" b="0"/>
                        <a:t>Personal and financial factors influence financial-management practices</a:t>
                      </a:r>
                      <a:endParaRPr sz="1100" b="0">
                        <a:latin typeface="Arial"/>
                      </a:endParaRPr>
                    </a:p>
                  </a:txBody>
                  <a:tcPr anchor="ctr"/>
                </a:tc>
                <a:tc>
                  <a:txBody>
                    <a:bodyPr/>
                    <a:lstStyle/>
                    <a:p>
                      <a:pPr algn="ctr">
                        <a:spcAft>
                          <a:spcPts val="0"/>
                        </a:spcAft>
                      </a:pPr>
                      <a:r>
                        <a:rPr sz="1100" b="0"/>
                        <a:t>Behavioral factors are identified but not translated into an integrated software framework</a:t>
                      </a:r>
                      <a:endParaRPr sz="1100" b="0">
                        <a:latin typeface="Arial"/>
                      </a:endParaRPr>
                    </a:p>
                  </a:txBody>
                  <a:tcPr anchor="ctr"/>
                </a:tc>
                <a:tc>
                  <a:txBody>
                    <a:bodyPr/>
                    <a:lstStyle/>
                    <a:p>
                      <a:pPr algn="ctr">
                        <a:spcAft>
                          <a:spcPts val="0"/>
                        </a:spcAft>
                      </a:pPr>
                      <a:r>
                        <a:rPr sz="1100" b="0"/>
                        <a:t>10.18196/mb.v13i1.13489</a:t>
                      </a:r>
                      <a:endParaRPr sz="1100" b="0">
                        <a:latin typeface="Arial"/>
                      </a:endParaRPr>
                    </a:p>
                  </a:txBody>
                  <a:tcPr anchor="ctr"/>
                </a:tc>
                <a:extLst>
                  <a:ext uri="{0D108BD9-81ED-4DB2-BD59-A6C34878D82A}">
                    <a16:rowId xmlns:a16="http://schemas.microsoft.com/office/drawing/2014/main" val="10004"/>
                  </a:ext>
                </a:extLst>
              </a:tr>
              <a:tr h="1356102">
                <a:tc>
                  <a:txBody>
                    <a:bodyPr/>
                    <a:lstStyle/>
                    <a:p>
                      <a:pPr algn="ctr">
                        <a:spcAft>
                          <a:spcPts val="0"/>
                        </a:spcAft>
                      </a:pPr>
                      <a:r>
                        <a:rPr sz="1100" b="0"/>
                        <a:t>10</a:t>
                      </a:r>
                      <a:endParaRPr sz="1100" b="0">
                        <a:latin typeface="Arial"/>
                      </a:endParaRPr>
                    </a:p>
                  </a:txBody>
                  <a:tcPr anchor="ctr"/>
                </a:tc>
                <a:tc>
                  <a:txBody>
                    <a:bodyPr/>
                    <a:lstStyle/>
                    <a:p>
                      <a:pPr algn="ctr">
                        <a:spcAft>
                          <a:spcPts val="0"/>
                        </a:spcAft>
                      </a:pPr>
                      <a:r>
                        <a:rPr sz="1100" b="0"/>
                        <a:t>2022</a:t>
                      </a:r>
                      <a:endParaRPr sz="1100" b="0">
                        <a:latin typeface="Arial"/>
                      </a:endParaRPr>
                    </a:p>
                  </a:txBody>
                  <a:tcPr anchor="ctr"/>
                </a:tc>
                <a:tc>
                  <a:txBody>
                    <a:bodyPr/>
                    <a:lstStyle/>
                    <a:p>
                      <a:pPr algn="ctr">
                        <a:spcAft>
                          <a:spcPts val="0"/>
                        </a:spcAft>
                      </a:pPr>
                      <a:r>
                        <a:rPr sz="1100" b="0"/>
                        <a:t>Chhillar, N.; Arora, S.</a:t>
                      </a:r>
                      <a:endParaRPr sz="1100" b="0">
                        <a:latin typeface="Arial"/>
                      </a:endParaRPr>
                    </a:p>
                  </a:txBody>
                  <a:tcPr anchor="ctr"/>
                </a:tc>
                <a:tc>
                  <a:txBody>
                    <a:bodyPr/>
                    <a:lstStyle/>
                    <a:p>
                      <a:pPr algn="ctr">
                        <a:spcAft>
                          <a:spcPts val="0"/>
                        </a:spcAft>
                      </a:pPr>
                      <a:r>
                        <a:rPr sz="1100" b="0"/>
                        <a:t>Personal Financial Management Behavior Using Digital Platforms and Its Domains</a:t>
                      </a:r>
                      <a:endParaRPr sz="1100" b="0">
                        <a:latin typeface="Arial"/>
                      </a:endParaRPr>
                    </a:p>
                  </a:txBody>
                  <a:tcPr anchor="ctr"/>
                </a:tc>
                <a:tc>
                  <a:txBody>
                    <a:bodyPr/>
                    <a:lstStyle/>
                    <a:p>
                      <a:pPr algn="ctr">
                        <a:spcAft>
                          <a:spcPts val="0"/>
                        </a:spcAft>
                      </a:pPr>
                      <a:r>
                        <a:rPr sz="1100" b="0"/>
                        <a:t>Journal of Financial Management, Markets &amp; Institutions</a:t>
                      </a:r>
                      <a:endParaRPr sz="1100" b="0">
                        <a:latin typeface="Arial"/>
                      </a:endParaRPr>
                    </a:p>
                  </a:txBody>
                  <a:tcPr anchor="ctr"/>
                </a:tc>
                <a:tc>
                  <a:txBody>
                    <a:bodyPr/>
                    <a:lstStyle/>
                    <a:p>
                      <a:pPr algn="ctr">
                        <a:spcAft>
                          <a:spcPts val="0"/>
                        </a:spcAft>
                      </a:pPr>
                      <a:r>
                        <a:rPr sz="1100" b="0"/>
                        <a:t>Identify domains of digitalized financial-management behavior</a:t>
                      </a:r>
                      <a:endParaRPr sz="1100" b="0">
                        <a:latin typeface="Arial"/>
                      </a:endParaRPr>
                    </a:p>
                  </a:txBody>
                  <a:tcPr anchor="ctr"/>
                </a:tc>
                <a:tc>
                  <a:txBody>
                    <a:bodyPr/>
                    <a:lstStyle/>
                    <a:p>
                      <a:pPr algn="ctr">
                        <a:spcAft>
                          <a:spcPts val="0"/>
                        </a:spcAft>
                      </a:pPr>
                      <a:r>
                        <a:rPr sz="1100" b="0"/>
                        <a:t>Literature review; empirical analysis; SmartPLS</a:t>
                      </a:r>
                      <a:endParaRPr sz="1100" b="0">
                        <a:latin typeface="Arial"/>
                      </a:endParaRPr>
                    </a:p>
                  </a:txBody>
                  <a:tcPr anchor="ctr"/>
                </a:tc>
                <a:tc>
                  <a:txBody>
                    <a:bodyPr/>
                    <a:lstStyle/>
                    <a:p>
                      <a:pPr algn="ctr">
                        <a:spcAft>
                          <a:spcPts val="0"/>
                        </a:spcAft>
                      </a:pPr>
                      <a:r>
                        <a:rPr sz="1100" b="0"/>
                        <a:t>Survey/empirical data</a:t>
                      </a:r>
                      <a:endParaRPr sz="1100" b="0">
                        <a:latin typeface="Arial"/>
                      </a:endParaRPr>
                    </a:p>
                  </a:txBody>
                  <a:tcPr anchor="ctr"/>
                </a:tc>
                <a:tc>
                  <a:txBody>
                    <a:bodyPr/>
                    <a:lstStyle/>
                    <a:p>
                      <a:pPr algn="ctr">
                        <a:spcAft>
                          <a:spcPts val="0"/>
                        </a:spcAft>
                      </a:pPr>
                      <a:r>
                        <a:rPr sz="1100" b="0"/>
                        <a:t>Spending; saving; credit; cash management; investment</a:t>
                      </a:r>
                      <a:endParaRPr sz="1100" b="0">
                        <a:latin typeface="Arial"/>
                      </a:endParaRPr>
                    </a:p>
                  </a:txBody>
                  <a:tcPr anchor="ctr"/>
                </a:tc>
                <a:tc>
                  <a:txBody>
                    <a:bodyPr/>
                    <a:lstStyle/>
                    <a:p>
                      <a:pPr algn="ctr">
                        <a:spcAft>
                          <a:spcPts val="0"/>
                        </a:spcAft>
                      </a:pPr>
                      <a:r>
                        <a:rPr sz="1100" b="0"/>
                        <a:t>Digital platforms support multiple domains of personal financial management</a:t>
                      </a:r>
                      <a:endParaRPr sz="1100" b="0">
                        <a:latin typeface="Arial"/>
                      </a:endParaRPr>
                    </a:p>
                  </a:txBody>
                  <a:tcPr anchor="ctr"/>
                </a:tc>
                <a:tc>
                  <a:txBody>
                    <a:bodyPr/>
                    <a:lstStyle/>
                    <a:p>
                      <a:pPr algn="ctr">
                        <a:spcAft>
                          <a:spcPts val="0"/>
                        </a:spcAft>
                      </a:pPr>
                      <a:r>
                        <a:rPr sz="1100" b="0"/>
                        <a:t>Does not propose an extensible application integrating tracking, analytics and decision support</a:t>
                      </a:r>
                      <a:endParaRPr sz="1100" b="0">
                        <a:latin typeface="Arial"/>
                      </a:endParaRPr>
                    </a:p>
                  </a:txBody>
                  <a:tcPr anchor="ctr"/>
                </a:tc>
                <a:tc>
                  <a:txBody>
                    <a:bodyPr/>
                    <a:lstStyle/>
                    <a:p>
                      <a:pPr algn="ctr">
                        <a:spcAft>
                          <a:spcPts val="0"/>
                        </a:spcAft>
                      </a:pPr>
                      <a:r>
                        <a:rPr sz="1100" b="0" dirty="0"/>
                        <a:t>10.1142/S2282717X22500098</a:t>
                      </a:r>
                      <a:endParaRPr sz="1100" b="0" dirty="0">
                        <a:latin typeface="Arial"/>
                      </a:endParaRPr>
                    </a:p>
                  </a:txBody>
                  <a:tcPr anchor="ctr"/>
                </a:tc>
                <a:extLst>
                  <a:ext uri="{0D108BD9-81ED-4DB2-BD59-A6C34878D82A}">
                    <a16:rowId xmlns:a16="http://schemas.microsoft.com/office/drawing/2014/main" val="10005"/>
                  </a:ext>
                </a:extLst>
              </a:tr>
            </a:tbl>
          </a:graphicData>
        </a:graphic>
      </p:graphicFrame>
      <p:sp>
        <p:nvSpPr>
          <p:cNvPr id="5" name="TextBox 4"/>
          <p:cNvSpPr txBox="1"/>
          <p:nvPr/>
        </p:nvSpPr>
        <p:spPr>
          <a:xfrm>
            <a:off x="320040" y="6336792"/>
            <a:ext cx="11521440" cy="228600"/>
          </a:xfrm>
          <a:prstGeom prst="rect">
            <a:avLst/>
          </a:prstGeom>
          <a:noFill/>
        </p:spPr>
        <p:txBody>
          <a:bodyPr wrap="none">
            <a:spAutoFit/>
          </a:bodyPr>
          <a:lstStyle/>
          <a:p>
            <a:pPr algn="r"/>
            <a:r>
              <a:rPr sz="800">
                <a:latin typeface="Arial"/>
              </a:rPr>
              <a:t>PRC-I  |  Literature Survey  |  2/3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137160"/>
            <a:ext cx="11521440" cy="502920"/>
          </a:xfrm>
          <a:prstGeom prst="rect">
            <a:avLst/>
          </a:prstGeom>
          <a:noFill/>
        </p:spPr>
        <p:txBody>
          <a:bodyPr wrap="none">
            <a:spAutoFit/>
          </a:bodyPr>
          <a:lstStyle/>
          <a:p>
            <a:pPr algn="ctr"/>
            <a:r>
              <a:rPr sz="2800" b="1">
                <a:latin typeface="Arial"/>
              </a:rPr>
              <a:t>Literature Survey</a:t>
            </a:r>
          </a:p>
        </p:txBody>
      </p:sp>
      <p:sp>
        <p:nvSpPr>
          <p:cNvPr id="3" name="TextBox 2"/>
          <p:cNvSpPr txBox="1"/>
          <p:nvPr/>
        </p:nvSpPr>
        <p:spPr>
          <a:xfrm>
            <a:off x="320040" y="621792"/>
            <a:ext cx="11521440" cy="256032"/>
          </a:xfrm>
          <a:prstGeom prst="rect">
            <a:avLst/>
          </a:prstGeom>
          <a:noFill/>
        </p:spPr>
        <p:txBody>
          <a:bodyPr wrap="none">
            <a:spAutoFit/>
          </a:bodyPr>
          <a:lstStyle/>
          <a:p>
            <a:pPr algn="ctr"/>
            <a:r>
              <a:rPr sz="900" i="1">
                <a:latin typeface="Arial"/>
              </a:rPr>
              <a:t>Relevant studies — Papers 11–13</a:t>
            </a:r>
          </a:p>
        </p:txBody>
      </p:sp>
      <p:graphicFrame>
        <p:nvGraphicFramePr>
          <p:cNvPr id="4" name="Table 3"/>
          <p:cNvGraphicFramePr>
            <a:graphicFrameLocks noGrp="1"/>
          </p:cNvGraphicFramePr>
          <p:nvPr/>
        </p:nvGraphicFramePr>
        <p:xfrm>
          <a:off x="0" y="0"/>
          <a:ext cx="12192001" cy="6858000"/>
        </p:xfrm>
        <a:graphic>
          <a:graphicData uri="http://schemas.openxmlformats.org/drawingml/2006/table">
            <a:tbl>
              <a:tblPr firstRow="1" bandRow="1">
                <a:tableStyleId>{073A0DAA-6AF3-43AB-8588-CEC1D06C72B9}</a:tableStyleId>
              </a:tblPr>
              <a:tblGrid>
                <a:gridCol w="375965">
                  <a:extLst>
                    <a:ext uri="{9D8B030D-6E8A-4147-A177-3AD203B41FA5}">
                      <a16:colId xmlns:a16="http://schemas.microsoft.com/office/drawing/2014/main" val="20000"/>
                    </a:ext>
                  </a:extLst>
                </a:gridCol>
                <a:gridCol w="483384">
                  <a:extLst>
                    <a:ext uri="{9D8B030D-6E8A-4147-A177-3AD203B41FA5}">
                      <a16:colId xmlns:a16="http://schemas.microsoft.com/office/drawing/2014/main" val="20001"/>
                    </a:ext>
                  </a:extLst>
                </a:gridCol>
                <a:gridCol w="966766">
                  <a:extLst>
                    <a:ext uri="{9D8B030D-6E8A-4147-A177-3AD203B41FA5}">
                      <a16:colId xmlns:a16="http://schemas.microsoft.com/office/drawing/2014/main" val="20002"/>
                    </a:ext>
                  </a:extLst>
                </a:gridCol>
                <a:gridCol w="1664986">
                  <a:extLst>
                    <a:ext uri="{9D8B030D-6E8A-4147-A177-3AD203B41FA5}">
                      <a16:colId xmlns:a16="http://schemas.microsoft.com/office/drawing/2014/main" val="20003"/>
                    </a:ext>
                  </a:extLst>
                </a:gridCol>
                <a:gridCol w="1127895">
                  <a:extLst>
                    <a:ext uri="{9D8B030D-6E8A-4147-A177-3AD203B41FA5}">
                      <a16:colId xmlns:a16="http://schemas.microsoft.com/office/drawing/2014/main" val="20004"/>
                    </a:ext>
                  </a:extLst>
                </a:gridCol>
                <a:gridCol w="1235313">
                  <a:extLst>
                    <a:ext uri="{9D8B030D-6E8A-4147-A177-3AD203B41FA5}">
                      <a16:colId xmlns:a16="http://schemas.microsoft.com/office/drawing/2014/main" val="20005"/>
                    </a:ext>
                  </a:extLst>
                </a:gridCol>
                <a:gridCol w="1020475">
                  <a:extLst>
                    <a:ext uri="{9D8B030D-6E8A-4147-A177-3AD203B41FA5}">
                      <a16:colId xmlns:a16="http://schemas.microsoft.com/office/drawing/2014/main" val="20006"/>
                    </a:ext>
                  </a:extLst>
                </a:gridCol>
                <a:gridCol w="859348">
                  <a:extLst>
                    <a:ext uri="{9D8B030D-6E8A-4147-A177-3AD203B41FA5}">
                      <a16:colId xmlns:a16="http://schemas.microsoft.com/office/drawing/2014/main" val="20007"/>
                    </a:ext>
                  </a:extLst>
                </a:gridCol>
                <a:gridCol w="966766">
                  <a:extLst>
                    <a:ext uri="{9D8B030D-6E8A-4147-A177-3AD203B41FA5}">
                      <a16:colId xmlns:a16="http://schemas.microsoft.com/office/drawing/2014/main" val="20008"/>
                    </a:ext>
                  </a:extLst>
                </a:gridCol>
                <a:gridCol w="1181604">
                  <a:extLst>
                    <a:ext uri="{9D8B030D-6E8A-4147-A177-3AD203B41FA5}">
                      <a16:colId xmlns:a16="http://schemas.microsoft.com/office/drawing/2014/main" val="20009"/>
                    </a:ext>
                  </a:extLst>
                </a:gridCol>
                <a:gridCol w="1235313">
                  <a:extLst>
                    <a:ext uri="{9D8B030D-6E8A-4147-A177-3AD203B41FA5}">
                      <a16:colId xmlns:a16="http://schemas.microsoft.com/office/drawing/2014/main" val="20010"/>
                    </a:ext>
                  </a:extLst>
                </a:gridCol>
                <a:gridCol w="1074186">
                  <a:extLst>
                    <a:ext uri="{9D8B030D-6E8A-4147-A177-3AD203B41FA5}">
                      <a16:colId xmlns:a16="http://schemas.microsoft.com/office/drawing/2014/main" val="20011"/>
                    </a:ext>
                  </a:extLst>
                </a:gridCol>
              </a:tblGrid>
              <a:tr h="1625778">
                <a:tc>
                  <a:txBody>
                    <a:bodyPr/>
                    <a:lstStyle/>
                    <a:p>
                      <a:pPr algn="ctr">
                        <a:spcAft>
                          <a:spcPts val="0"/>
                        </a:spcAft>
                      </a:pPr>
                      <a:r>
                        <a:rPr sz="1100" b="1"/>
                        <a:t>Sl No</a:t>
                      </a:r>
                      <a:endParaRPr sz="1100" b="1">
                        <a:latin typeface="Arial"/>
                      </a:endParaRPr>
                    </a:p>
                  </a:txBody>
                  <a:tcPr anchor="ctr"/>
                </a:tc>
                <a:tc>
                  <a:txBody>
                    <a:bodyPr/>
                    <a:lstStyle/>
                    <a:p>
                      <a:pPr algn="ctr">
                        <a:spcAft>
                          <a:spcPts val="0"/>
                        </a:spcAft>
                      </a:pPr>
                      <a:r>
                        <a:rPr sz="1100" b="1"/>
                        <a:t>Year</a:t>
                      </a:r>
                      <a:endParaRPr sz="1100" b="1">
                        <a:latin typeface="Arial"/>
                      </a:endParaRPr>
                    </a:p>
                  </a:txBody>
                  <a:tcPr anchor="ctr"/>
                </a:tc>
                <a:tc>
                  <a:txBody>
                    <a:bodyPr/>
                    <a:lstStyle/>
                    <a:p>
                      <a:pPr algn="ctr">
                        <a:spcAft>
                          <a:spcPts val="0"/>
                        </a:spcAft>
                      </a:pPr>
                      <a:r>
                        <a:rPr sz="1100" b="1"/>
                        <a:t>Authors</a:t>
                      </a:r>
                      <a:endParaRPr sz="1100" b="1">
                        <a:latin typeface="Arial"/>
                      </a:endParaRPr>
                    </a:p>
                  </a:txBody>
                  <a:tcPr anchor="ctr"/>
                </a:tc>
                <a:tc>
                  <a:txBody>
                    <a:bodyPr/>
                    <a:lstStyle/>
                    <a:p>
                      <a:pPr algn="ctr">
                        <a:spcAft>
                          <a:spcPts val="0"/>
                        </a:spcAft>
                      </a:pPr>
                      <a:r>
                        <a:rPr sz="1100" b="1" dirty="0"/>
                        <a:t>Title of the paper</a:t>
                      </a:r>
                      <a:endParaRPr sz="1100" b="1" dirty="0">
                        <a:latin typeface="Arial"/>
                      </a:endParaRPr>
                    </a:p>
                  </a:txBody>
                  <a:tcPr anchor="ctr"/>
                </a:tc>
                <a:tc>
                  <a:txBody>
                    <a:bodyPr/>
                    <a:lstStyle/>
                    <a:p>
                      <a:pPr algn="ctr">
                        <a:spcAft>
                          <a:spcPts val="0"/>
                        </a:spcAft>
                      </a:pPr>
                      <a:r>
                        <a:rPr sz="1100" b="1"/>
                        <a:t>Source (Journal/Conference name)</a:t>
                      </a:r>
                      <a:endParaRPr sz="1100" b="1">
                        <a:latin typeface="Arial"/>
                      </a:endParaRPr>
                    </a:p>
                  </a:txBody>
                  <a:tcPr anchor="ctr"/>
                </a:tc>
                <a:tc>
                  <a:txBody>
                    <a:bodyPr/>
                    <a:lstStyle/>
                    <a:p>
                      <a:pPr algn="ctr">
                        <a:spcAft>
                          <a:spcPts val="0"/>
                        </a:spcAft>
                      </a:pPr>
                      <a:r>
                        <a:rPr sz="1100" b="1"/>
                        <a:t>Objective of the paper</a:t>
                      </a:r>
                      <a:endParaRPr sz="1100" b="1">
                        <a:latin typeface="Arial"/>
                      </a:endParaRPr>
                    </a:p>
                  </a:txBody>
                  <a:tcPr anchor="ctr"/>
                </a:tc>
                <a:tc>
                  <a:txBody>
                    <a:bodyPr/>
                    <a:lstStyle/>
                    <a:p>
                      <a:pPr algn="ctr">
                        <a:spcAft>
                          <a:spcPts val="0"/>
                        </a:spcAft>
                      </a:pPr>
                      <a:r>
                        <a:rPr sz="1100" b="1"/>
                        <a:t>Techniques Used</a:t>
                      </a:r>
                      <a:endParaRPr sz="1100" b="1">
                        <a:latin typeface="Arial"/>
                      </a:endParaRPr>
                    </a:p>
                  </a:txBody>
                  <a:tcPr anchor="ctr"/>
                </a:tc>
                <a:tc>
                  <a:txBody>
                    <a:bodyPr/>
                    <a:lstStyle/>
                    <a:p>
                      <a:pPr algn="ctr">
                        <a:spcAft>
                          <a:spcPts val="0"/>
                        </a:spcAft>
                      </a:pPr>
                      <a:r>
                        <a:rPr sz="1100" b="1"/>
                        <a:t>Dataset Used</a:t>
                      </a:r>
                      <a:endParaRPr sz="1100" b="1">
                        <a:latin typeface="Arial"/>
                      </a:endParaRPr>
                    </a:p>
                  </a:txBody>
                  <a:tcPr anchor="ctr"/>
                </a:tc>
                <a:tc>
                  <a:txBody>
                    <a:bodyPr/>
                    <a:lstStyle/>
                    <a:p>
                      <a:pPr algn="ctr">
                        <a:spcAft>
                          <a:spcPts val="0"/>
                        </a:spcAft>
                      </a:pPr>
                      <a:r>
                        <a:rPr sz="1100" b="1"/>
                        <a:t>Parameters Analysed</a:t>
                      </a:r>
                      <a:endParaRPr sz="1100" b="1">
                        <a:latin typeface="Arial"/>
                      </a:endParaRPr>
                    </a:p>
                  </a:txBody>
                  <a:tcPr anchor="ctr"/>
                </a:tc>
                <a:tc>
                  <a:txBody>
                    <a:bodyPr/>
                    <a:lstStyle/>
                    <a:p>
                      <a:pPr algn="ctr">
                        <a:spcAft>
                          <a:spcPts val="0"/>
                        </a:spcAft>
                      </a:pPr>
                      <a:r>
                        <a:rPr sz="1100" b="1"/>
                        <a:t>Research Inference</a:t>
                      </a:r>
                      <a:endParaRPr sz="1100" b="1">
                        <a:latin typeface="Arial"/>
                      </a:endParaRPr>
                    </a:p>
                  </a:txBody>
                  <a:tcPr anchor="ctr"/>
                </a:tc>
                <a:tc>
                  <a:txBody>
                    <a:bodyPr/>
                    <a:lstStyle/>
                    <a:p>
                      <a:pPr algn="ctr">
                        <a:spcAft>
                          <a:spcPts val="0"/>
                        </a:spcAft>
                      </a:pPr>
                      <a:r>
                        <a:rPr sz="1100" b="1"/>
                        <a:t>Research Gap</a:t>
                      </a:r>
                      <a:endParaRPr sz="1100" b="1">
                        <a:latin typeface="Arial"/>
                      </a:endParaRPr>
                    </a:p>
                  </a:txBody>
                  <a:tcPr anchor="ctr"/>
                </a:tc>
                <a:tc>
                  <a:txBody>
                    <a:bodyPr/>
                    <a:lstStyle/>
                    <a:p>
                      <a:pPr algn="ctr">
                        <a:spcAft>
                          <a:spcPts val="0"/>
                        </a:spcAft>
                      </a:pPr>
                      <a:r>
                        <a:rPr sz="1100" b="1"/>
                        <a:t>DOI of the paper</a:t>
                      </a:r>
                      <a:endParaRPr sz="1100" b="1">
                        <a:latin typeface="Arial"/>
                      </a:endParaRPr>
                    </a:p>
                  </a:txBody>
                  <a:tcPr anchor="ctr"/>
                </a:tc>
                <a:extLst>
                  <a:ext uri="{0D108BD9-81ED-4DB2-BD59-A6C34878D82A}">
                    <a16:rowId xmlns:a16="http://schemas.microsoft.com/office/drawing/2014/main" val="10000"/>
                  </a:ext>
                </a:extLst>
              </a:tr>
              <a:tr h="1625778">
                <a:tc>
                  <a:txBody>
                    <a:bodyPr/>
                    <a:lstStyle/>
                    <a:p>
                      <a:pPr algn="ctr">
                        <a:spcAft>
                          <a:spcPts val="0"/>
                        </a:spcAft>
                      </a:pPr>
                      <a:r>
                        <a:rPr sz="1100" b="0"/>
                        <a:t>11</a:t>
                      </a:r>
                      <a:endParaRPr sz="1100" b="0">
                        <a:latin typeface="Arial"/>
                      </a:endParaRPr>
                    </a:p>
                  </a:txBody>
                  <a:tcPr anchor="ctr"/>
                </a:tc>
                <a:tc>
                  <a:txBody>
                    <a:bodyPr/>
                    <a:lstStyle/>
                    <a:p>
                      <a:pPr algn="ctr">
                        <a:spcAft>
                          <a:spcPts val="0"/>
                        </a:spcAft>
                      </a:pPr>
                      <a:r>
                        <a:rPr sz="1100" b="0"/>
                        <a:t>2022/23</a:t>
                      </a:r>
                      <a:endParaRPr sz="1100" b="0">
                        <a:latin typeface="Arial"/>
                      </a:endParaRPr>
                    </a:p>
                  </a:txBody>
                  <a:tcPr anchor="ctr"/>
                </a:tc>
                <a:tc>
                  <a:txBody>
                    <a:bodyPr/>
                    <a:lstStyle/>
                    <a:p>
                      <a:pPr algn="ctr">
                        <a:spcAft>
                          <a:spcPts val="0"/>
                        </a:spcAft>
                      </a:pPr>
                      <a:r>
                        <a:rPr sz="1100" b="0"/>
                        <a:t>Garcia/Claour; website study</a:t>
                      </a:r>
                      <a:endParaRPr sz="1100" b="0">
                        <a:latin typeface="Arial"/>
                      </a:endParaRPr>
                    </a:p>
                  </a:txBody>
                  <a:tcPr anchor="ctr"/>
                </a:tc>
                <a:tc>
                  <a:txBody>
                    <a:bodyPr/>
                    <a:lstStyle/>
                    <a:p>
                      <a:pPr algn="ctr">
                        <a:spcAft>
                          <a:spcPts val="0"/>
                        </a:spcAft>
                      </a:pPr>
                      <a:r>
                        <a:rPr sz="1100" b="0"/>
                        <a:t>Personal Financial Management Using Website-Based Digital Image Technology</a:t>
                      </a:r>
                      <a:endParaRPr sz="1100" b="0">
                        <a:latin typeface="Arial"/>
                      </a:endParaRPr>
                    </a:p>
                  </a:txBody>
                  <a:tcPr anchor="ctr"/>
                </a:tc>
                <a:tc>
                  <a:txBody>
                    <a:bodyPr/>
                    <a:lstStyle/>
                    <a:p>
                      <a:pPr algn="ctr">
                        <a:spcAft>
                          <a:spcPts val="0"/>
                        </a:spcAft>
                      </a:pPr>
                      <a:r>
                        <a:rPr sz="1100" b="0"/>
                        <a:t>@is The Best: Accounting Information Systems</a:t>
                      </a:r>
                      <a:endParaRPr sz="1100" b="0">
                        <a:latin typeface="Arial"/>
                      </a:endParaRPr>
                    </a:p>
                  </a:txBody>
                  <a:tcPr anchor="ctr"/>
                </a:tc>
                <a:tc>
                  <a:txBody>
                    <a:bodyPr/>
                    <a:lstStyle/>
                    <a:p>
                      <a:pPr algn="ctr">
                        <a:spcAft>
                          <a:spcPts val="0"/>
                        </a:spcAft>
                      </a:pPr>
                      <a:r>
                        <a:rPr sz="1100" b="0" dirty="0"/>
                        <a:t>Develop a web PFM system using scanned money/receipts as input</a:t>
                      </a:r>
                      <a:endParaRPr sz="1100" b="0" dirty="0">
                        <a:latin typeface="Arial"/>
                      </a:endParaRPr>
                    </a:p>
                  </a:txBody>
                  <a:tcPr anchor="ctr"/>
                </a:tc>
                <a:tc>
                  <a:txBody>
                    <a:bodyPr/>
                    <a:lstStyle/>
                    <a:p>
                      <a:pPr algn="ctr">
                        <a:spcAft>
                          <a:spcPts val="0"/>
                        </a:spcAft>
                      </a:pPr>
                      <a:r>
                        <a:rPr sz="1100" b="0"/>
                        <a:t>Agile; UML; digital image processing</a:t>
                      </a:r>
                      <a:endParaRPr sz="1100" b="0">
                        <a:latin typeface="Arial"/>
                      </a:endParaRPr>
                    </a:p>
                  </a:txBody>
                  <a:tcPr anchor="ctr"/>
                </a:tc>
                <a:tc>
                  <a:txBody>
                    <a:bodyPr/>
                    <a:lstStyle/>
                    <a:p>
                      <a:pPr algn="ctr">
                        <a:spcAft>
                          <a:spcPts val="0"/>
                        </a:spcAft>
                      </a:pPr>
                      <a:r>
                        <a:rPr sz="1100" b="0"/>
                        <a:t>Money/receipt images; transaction data</a:t>
                      </a:r>
                      <a:endParaRPr sz="1100" b="0">
                        <a:latin typeface="Arial"/>
                      </a:endParaRPr>
                    </a:p>
                  </a:txBody>
                  <a:tcPr anchor="ctr"/>
                </a:tc>
                <a:tc>
                  <a:txBody>
                    <a:bodyPr/>
                    <a:lstStyle/>
                    <a:p>
                      <a:pPr algn="ctr">
                        <a:spcAft>
                          <a:spcPts val="0"/>
                        </a:spcAft>
                      </a:pPr>
                      <a:r>
                        <a:rPr sz="1100" b="0"/>
                        <a:t>Input accuracy; usability; system functionality</a:t>
                      </a:r>
                      <a:endParaRPr sz="1100" b="0">
                        <a:latin typeface="Arial"/>
                      </a:endParaRPr>
                    </a:p>
                  </a:txBody>
                  <a:tcPr anchor="ctr"/>
                </a:tc>
                <a:tc>
                  <a:txBody>
                    <a:bodyPr/>
                    <a:lstStyle/>
                    <a:p>
                      <a:pPr algn="ctr">
                        <a:spcAft>
                          <a:spcPts val="0"/>
                        </a:spcAft>
                      </a:pPr>
                      <a:r>
                        <a:rPr sz="1100" b="0"/>
                        <a:t>Image-based input can make financial data entry more flexible</a:t>
                      </a:r>
                      <a:endParaRPr sz="1100" b="0">
                        <a:latin typeface="Arial"/>
                      </a:endParaRPr>
                    </a:p>
                  </a:txBody>
                  <a:tcPr anchor="ctr"/>
                </a:tc>
                <a:tc>
                  <a:txBody>
                    <a:bodyPr/>
                    <a:lstStyle/>
                    <a:p>
                      <a:pPr algn="ctr">
                        <a:spcAft>
                          <a:spcPts val="0"/>
                        </a:spcAft>
                      </a:pPr>
                      <a:r>
                        <a:rPr sz="1100" b="0"/>
                        <a:t>Focuses on data capture; limited behavioral analysis and personalized recommendations</a:t>
                      </a:r>
                      <a:endParaRPr sz="1100" b="0">
                        <a:latin typeface="Arial"/>
                      </a:endParaRPr>
                    </a:p>
                  </a:txBody>
                  <a:tcPr anchor="ctr"/>
                </a:tc>
                <a:tc>
                  <a:txBody>
                    <a:bodyPr/>
                    <a:lstStyle/>
                    <a:p>
                      <a:pPr algn="ctr">
                        <a:spcAft>
                          <a:spcPts val="0"/>
                        </a:spcAft>
                      </a:pPr>
                      <a:r>
                        <a:rPr sz="1100" b="0"/>
                        <a:t>10.34010/aisthebest.v7i2.8957</a:t>
                      </a:r>
                      <a:endParaRPr sz="1100" b="0">
                        <a:latin typeface="Arial"/>
                      </a:endParaRPr>
                    </a:p>
                  </a:txBody>
                  <a:tcPr anchor="ctr"/>
                </a:tc>
                <a:extLst>
                  <a:ext uri="{0D108BD9-81ED-4DB2-BD59-A6C34878D82A}">
                    <a16:rowId xmlns:a16="http://schemas.microsoft.com/office/drawing/2014/main" val="10001"/>
                  </a:ext>
                </a:extLst>
              </a:tr>
              <a:tr h="1803222">
                <a:tc>
                  <a:txBody>
                    <a:bodyPr/>
                    <a:lstStyle/>
                    <a:p>
                      <a:pPr algn="ctr">
                        <a:spcAft>
                          <a:spcPts val="0"/>
                        </a:spcAft>
                      </a:pPr>
                      <a:r>
                        <a:rPr sz="1100" b="0"/>
                        <a:t>12</a:t>
                      </a:r>
                      <a:endParaRPr sz="1100" b="0">
                        <a:latin typeface="Arial"/>
                      </a:endParaRPr>
                    </a:p>
                  </a:txBody>
                  <a:tcPr anchor="ctr"/>
                </a:tc>
                <a:tc>
                  <a:txBody>
                    <a:bodyPr/>
                    <a:lstStyle/>
                    <a:p>
                      <a:pPr algn="ctr">
                        <a:spcAft>
                          <a:spcPts val="0"/>
                        </a:spcAft>
                      </a:pPr>
                      <a:r>
                        <a:rPr sz="1100" b="0"/>
                        <a:t>2023</a:t>
                      </a:r>
                      <a:endParaRPr sz="1100" b="0">
                        <a:latin typeface="Arial"/>
                      </a:endParaRPr>
                    </a:p>
                  </a:txBody>
                  <a:tcPr anchor="ctr"/>
                </a:tc>
                <a:tc>
                  <a:txBody>
                    <a:bodyPr/>
                    <a:lstStyle/>
                    <a:p>
                      <a:pPr algn="ctr">
                        <a:spcAft>
                          <a:spcPts val="0"/>
                        </a:spcAft>
                      </a:pPr>
                      <a:r>
                        <a:rPr sz="1100" b="0"/>
                        <a:t>Uyanahewa, M.I.R. et al.</a:t>
                      </a:r>
                      <a:endParaRPr sz="1100" b="0">
                        <a:latin typeface="Arial"/>
                      </a:endParaRPr>
                    </a:p>
                  </a:txBody>
                  <a:tcPr anchor="ctr"/>
                </a:tc>
                <a:tc>
                  <a:txBody>
                    <a:bodyPr/>
                    <a:lstStyle/>
                    <a:p>
                      <a:pPr algn="ctr">
                        <a:spcAft>
                          <a:spcPts val="0"/>
                        </a:spcAft>
                      </a:pPr>
                      <a:r>
                        <a:rPr sz="1100" b="0"/>
                        <a:t>WONGA: The Future of Personal Finance Management – A Machine Learning-Driven Approach for Predictive Analysis and Efficient Expense Tracking</a:t>
                      </a:r>
                      <a:endParaRPr sz="1100" b="0">
                        <a:latin typeface="Arial"/>
                      </a:endParaRPr>
                    </a:p>
                  </a:txBody>
                  <a:tcPr anchor="ctr"/>
                </a:tc>
                <a:tc>
                  <a:txBody>
                    <a:bodyPr/>
                    <a:lstStyle/>
                    <a:p>
                      <a:pPr algn="ctr">
                        <a:spcAft>
                          <a:spcPts val="0"/>
                        </a:spcAft>
                      </a:pPr>
                      <a:r>
                        <a:rPr sz="1100" b="0"/>
                        <a:t>IEEE INCET</a:t>
                      </a:r>
                      <a:endParaRPr sz="1100" b="0">
                        <a:latin typeface="Arial"/>
                      </a:endParaRPr>
                    </a:p>
                  </a:txBody>
                  <a:tcPr anchor="ctr"/>
                </a:tc>
                <a:tc>
                  <a:txBody>
                    <a:bodyPr/>
                    <a:lstStyle/>
                    <a:p>
                      <a:pPr algn="ctr">
                        <a:spcAft>
                          <a:spcPts val="0"/>
                        </a:spcAft>
                      </a:pPr>
                      <a:r>
                        <a:rPr sz="1100" b="0"/>
                        <a:t>Automate tracking, classification, budgeting and prediction</a:t>
                      </a:r>
                      <a:endParaRPr sz="1100" b="0">
                        <a:latin typeface="Arial"/>
                      </a:endParaRPr>
                    </a:p>
                  </a:txBody>
                  <a:tcPr anchor="ctr"/>
                </a:tc>
                <a:tc>
                  <a:txBody>
                    <a:bodyPr/>
                    <a:lstStyle/>
                    <a:p>
                      <a:pPr algn="ctr">
                        <a:spcAft>
                          <a:spcPts val="0"/>
                        </a:spcAft>
                      </a:pPr>
                      <a:r>
                        <a:rPr sz="1100" b="0"/>
                        <a:t>NLP; Regex; ANN; CNN; image processing</a:t>
                      </a:r>
                      <a:endParaRPr sz="1100" b="0">
                        <a:latin typeface="Arial"/>
                      </a:endParaRPr>
                    </a:p>
                  </a:txBody>
                  <a:tcPr anchor="ctr"/>
                </a:tc>
                <a:tc>
                  <a:txBody>
                    <a:bodyPr/>
                    <a:lstStyle/>
                    <a:p>
                      <a:pPr algn="ctr">
                        <a:spcAft>
                          <a:spcPts val="0"/>
                        </a:spcAft>
                      </a:pPr>
                      <a:r>
                        <a:rPr sz="1100" b="0"/>
                        <a:t>SMS, bank transactions and expense bills</a:t>
                      </a:r>
                      <a:endParaRPr sz="1100" b="0">
                        <a:latin typeface="Arial"/>
                      </a:endParaRPr>
                    </a:p>
                  </a:txBody>
                  <a:tcPr anchor="ctr"/>
                </a:tc>
                <a:tc>
                  <a:txBody>
                    <a:bodyPr/>
                    <a:lstStyle/>
                    <a:p>
                      <a:pPr algn="ctr">
                        <a:spcAft>
                          <a:spcPts val="0"/>
                        </a:spcAft>
                      </a:pPr>
                      <a:r>
                        <a:rPr sz="1100" b="0"/>
                        <a:t>Expense categories; cash flow; spending patterns; predictions</a:t>
                      </a:r>
                      <a:endParaRPr sz="1100" b="0">
                        <a:latin typeface="Arial"/>
                      </a:endParaRPr>
                    </a:p>
                  </a:txBody>
                  <a:tcPr anchor="ctr"/>
                </a:tc>
                <a:tc>
                  <a:txBody>
                    <a:bodyPr/>
                    <a:lstStyle/>
                    <a:p>
                      <a:pPr algn="ctr">
                        <a:spcAft>
                          <a:spcPts val="0"/>
                        </a:spcAft>
                      </a:pPr>
                      <a:r>
                        <a:rPr sz="1100" b="0"/>
                        <a:t>Automation reduces manual entry and supports predictive financial management</a:t>
                      </a:r>
                      <a:endParaRPr sz="1100" b="0">
                        <a:latin typeface="Arial"/>
                      </a:endParaRPr>
                    </a:p>
                  </a:txBody>
                  <a:tcPr anchor="ctr"/>
                </a:tc>
                <a:tc>
                  <a:txBody>
                    <a:bodyPr/>
                    <a:lstStyle/>
                    <a:p>
                      <a:pPr algn="ctr">
                        <a:spcAft>
                          <a:spcPts val="0"/>
                        </a:spcAft>
                      </a:pPr>
                      <a:r>
                        <a:rPr sz="1100" b="0"/>
                        <a:t>Strong automation, but scope for a broader modular and extensible analytics framework remains</a:t>
                      </a:r>
                      <a:endParaRPr sz="1100" b="0">
                        <a:latin typeface="Arial"/>
                      </a:endParaRPr>
                    </a:p>
                  </a:txBody>
                  <a:tcPr anchor="ctr"/>
                </a:tc>
                <a:tc>
                  <a:txBody>
                    <a:bodyPr/>
                    <a:lstStyle/>
                    <a:p>
                      <a:pPr algn="ctr">
                        <a:spcAft>
                          <a:spcPts val="0"/>
                        </a:spcAft>
                      </a:pPr>
                      <a:r>
                        <a:rPr sz="1100" b="0"/>
                        <a:t>10.1109/INCET57972.2023.10170209</a:t>
                      </a:r>
                      <a:endParaRPr sz="1100" b="0">
                        <a:latin typeface="Arial"/>
                      </a:endParaRPr>
                    </a:p>
                  </a:txBody>
                  <a:tcPr anchor="ctr"/>
                </a:tc>
                <a:extLst>
                  <a:ext uri="{0D108BD9-81ED-4DB2-BD59-A6C34878D82A}">
                    <a16:rowId xmlns:a16="http://schemas.microsoft.com/office/drawing/2014/main" val="10002"/>
                  </a:ext>
                </a:extLst>
              </a:tr>
              <a:tr h="1803222">
                <a:tc>
                  <a:txBody>
                    <a:bodyPr/>
                    <a:lstStyle/>
                    <a:p>
                      <a:pPr algn="ctr">
                        <a:spcAft>
                          <a:spcPts val="0"/>
                        </a:spcAft>
                      </a:pPr>
                      <a:r>
                        <a:rPr sz="1100" b="0"/>
                        <a:t>13</a:t>
                      </a:r>
                      <a:endParaRPr sz="1100" b="0">
                        <a:latin typeface="Arial"/>
                      </a:endParaRPr>
                    </a:p>
                  </a:txBody>
                  <a:tcPr anchor="ctr"/>
                </a:tc>
                <a:tc>
                  <a:txBody>
                    <a:bodyPr/>
                    <a:lstStyle/>
                    <a:p>
                      <a:pPr algn="ctr">
                        <a:spcAft>
                          <a:spcPts val="0"/>
                        </a:spcAft>
                      </a:pPr>
                      <a:r>
                        <a:rPr sz="1100" b="0"/>
                        <a:t>2024</a:t>
                      </a:r>
                      <a:endParaRPr sz="1100" b="0">
                        <a:latin typeface="Arial"/>
                      </a:endParaRPr>
                    </a:p>
                  </a:txBody>
                  <a:tcPr anchor="ctr"/>
                </a:tc>
                <a:tc>
                  <a:txBody>
                    <a:bodyPr/>
                    <a:lstStyle/>
                    <a:p>
                      <a:pPr algn="ctr">
                        <a:spcAft>
                          <a:spcPts val="0"/>
                        </a:spcAft>
                      </a:pPr>
                      <a:r>
                        <a:rPr sz="1100" b="0"/>
                        <a:t>Stefanov, T.; Stefanova, M.; Varbanova, S.; Temelkov, S.</a:t>
                      </a:r>
                      <a:endParaRPr sz="1100" b="0">
                        <a:latin typeface="Arial"/>
                      </a:endParaRPr>
                    </a:p>
                  </a:txBody>
                  <a:tcPr anchor="ctr"/>
                </a:tc>
                <a:tc>
                  <a:txBody>
                    <a:bodyPr/>
                    <a:lstStyle/>
                    <a:p>
                      <a:pPr algn="ctr">
                        <a:spcAft>
                          <a:spcPts val="0"/>
                        </a:spcAft>
                      </a:pPr>
                      <a:r>
                        <a:rPr sz="1100" b="0"/>
                        <a:t>Personal Finance Management Application</a:t>
                      </a:r>
                      <a:endParaRPr sz="1100" b="0">
                        <a:latin typeface="Arial"/>
                      </a:endParaRPr>
                    </a:p>
                  </a:txBody>
                  <a:tcPr anchor="ctr"/>
                </a:tc>
                <a:tc>
                  <a:txBody>
                    <a:bodyPr/>
                    <a:lstStyle/>
                    <a:p>
                      <a:pPr algn="ctr">
                        <a:spcAft>
                          <a:spcPts val="0"/>
                        </a:spcAft>
                      </a:pPr>
                      <a:r>
                        <a:rPr sz="1100" b="0"/>
                        <a:t>TEM Journal</a:t>
                      </a:r>
                      <a:endParaRPr sz="1100" b="0">
                        <a:latin typeface="Arial"/>
                      </a:endParaRPr>
                    </a:p>
                  </a:txBody>
                  <a:tcPr anchor="ctr"/>
                </a:tc>
                <a:tc>
                  <a:txBody>
                    <a:bodyPr/>
                    <a:lstStyle/>
                    <a:p>
                      <a:pPr algn="ctr">
                        <a:spcAft>
                          <a:spcPts val="0"/>
                        </a:spcAft>
                      </a:pPr>
                      <a:r>
                        <a:rPr sz="1100" b="0"/>
                        <a:t>Develop a mobile app for budgeting, expenses, reports and visualization</a:t>
                      </a:r>
                      <a:endParaRPr sz="1100" b="0">
                        <a:latin typeface="Arial"/>
                      </a:endParaRPr>
                    </a:p>
                  </a:txBody>
                  <a:tcPr anchor="ctr"/>
                </a:tc>
                <a:tc>
                  <a:txBody>
                    <a:bodyPr/>
                    <a:lstStyle/>
                    <a:p>
                      <a:pPr algn="ctr">
                        <a:spcAft>
                          <a:spcPts val="0"/>
                        </a:spcAft>
                      </a:pPr>
                      <a:r>
                        <a:rPr sz="1100" b="0"/>
                        <a:t>Android development; prototype testing; interviews</a:t>
                      </a:r>
                      <a:endParaRPr sz="1100" b="0">
                        <a:latin typeface="Arial"/>
                      </a:endParaRPr>
                    </a:p>
                  </a:txBody>
                  <a:tcPr anchor="ctr"/>
                </a:tc>
                <a:tc>
                  <a:txBody>
                    <a:bodyPr/>
                    <a:lstStyle/>
                    <a:p>
                      <a:pPr algn="ctr">
                        <a:spcAft>
                          <a:spcPts val="0"/>
                        </a:spcAft>
                      </a:pPr>
                      <a:r>
                        <a:rPr sz="1100" b="0"/>
                        <a:t>User financial data; selected customers</a:t>
                      </a:r>
                      <a:endParaRPr sz="1100" b="0">
                        <a:latin typeface="Arial"/>
                      </a:endParaRPr>
                    </a:p>
                  </a:txBody>
                  <a:tcPr anchor="ctr"/>
                </a:tc>
                <a:tc>
                  <a:txBody>
                    <a:bodyPr/>
                    <a:lstStyle/>
                    <a:p>
                      <a:pPr algn="ctr">
                        <a:spcAft>
                          <a:spcPts val="0"/>
                        </a:spcAft>
                      </a:pPr>
                      <a:r>
                        <a:rPr sz="1100" b="0"/>
                        <a:t>Income; expenses; budgets; reports; charts</a:t>
                      </a:r>
                      <a:endParaRPr sz="1100" b="0">
                        <a:latin typeface="Arial"/>
                      </a:endParaRPr>
                    </a:p>
                  </a:txBody>
                  <a:tcPr anchor="ctr"/>
                </a:tc>
                <a:tc>
                  <a:txBody>
                    <a:bodyPr/>
                    <a:lstStyle/>
                    <a:p>
                      <a:pPr algn="ctr">
                        <a:spcAft>
                          <a:spcPts val="0"/>
                        </a:spcAft>
                      </a:pPr>
                      <a:r>
                        <a:rPr sz="1100" b="0"/>
                        <a:t>Mobile PFM can combine budgeting, expense management and visualization</a:t>
                      </a:r>
                      <a:endParaRPr sz="1100" b="0">
                        <a:latin typeface="Arial"/>
                      </a:endParaRPr>
                    </a:p>
                  </a:txBody>
                  <a:tcPr anchor="ctr"/>
                </a:tc>
                <a:tc>
                  <a:txBody>
                    <a:bodyPr/>
                    <a:lstStyle/>
                    <a:p>
                      <a:pPr algn="ctr">
                        <a:spcAft>
                          <a:spcPts val="0"/>
                        </a:spcAft>
                      </a:pPr>
                      <a:r>
                        <a:rPr sz="1100" b="0"/>
                        <a:t>Mainly management/visualization; limited intelligent behavioral analysis and decision support</a:t>
                      </a:r>
                      <a:endParaRPr sz="1100" b="0">
                        <a:latin typeface="Arial"/>
                      </a:endParaRPr>
                    </a:p>
                  </a:txBody>
                  <a:tcPr anchor="ctr"/>
                </a:tc>
                <a:tc>
                  <a:txBody>
                    <a:bodyPr/>
                    <a:lstStyle/>
                    <a:p>
                      <a:pPr algn="ctr">
                        <a:spcAft>
                          <a:spcPts val="0"/>
                        </a:spcAft>
                      </a:pPr>
                      <a:r>
                        <a:rPr sz="1100" b="0" dirty="0"/>
                        <a:t>10.18421/TEM133-34</a:t>
                      </a:r>
                      <a:endParaRPr sz="1100" b="0" dirty="0">
                        <a:latin typeface="Arial"/>
                      </a:endParaRPr>
                    </a:p>
                  </a:txBody>
                  <a:tcPr anchor="ctr"/>
                </a:tc>
                <a:extLst>
                  <a:ext uri="{0D108BD9-81ED-4DB2-BD59-A6C34878D82A}">
                    <a16:rowId xmlns:a16="http://schemas.microsoft.com/office/drawing/2014/main" val="10003"/>
                  </a:ext>
                </a:extLst>
              </a:tr>
            </a:tbl>
          </a:graphicData>
        </a:graphic>
      </p:graphicFrame>
      <p:sp>
        <p:nvSpPr>
          <p:cNvPr id="5" name="TextBox 4"/>
          <p:cNvSpPr txBox="1"/>
          <p:nvPr/>
        </p:nvSpPr>
        <p:spPr>
          <a:xfrm>
            <a:off x="320040" y="6336792"/>
            <a:ext cx="11521440" cy="228600"/>
          </a:xfrm>
          <a:prstGeom prst="rect">
            <a:avLst/>
          </a:prstGeom>
          <a:noFill/>
        </p:spPr>
        <p:txBody>
          <a:bodyPr wrap="none">
            <a:spAutoFit/>
          </a:bodyPr>
          <a:lstStyle/>
          <a:p>
            <a:pPr algn="r"/>
            <a:r>
              <a:rPr sz="800">
                <a:latin typeface="Arial"/>
              </a:rPr>
              <a:t>PRC-I  |  Literature Survey  |  3/3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09728"/>
            <a:ext cx="11612880" cy="502920"/>
          </a:xfrm>
          <a:prstGeom prst="rect">
            <a:avLst/>
          </a:prstGeom>
          <a:noFill/>
        </p:spPr>
        <p:txBody>
          <a:bodyPr wrap="none">
            <a:spAutoFit/>
          </a:bodyPr>
          <a:lstStyle/>
          <a:p>
            <a:pPr algn="ctr"/>
            <a:r>
              <a:rPr sz="2700" b="1">
                <a:latin typeface="Arial"/>
              </a:rPr>
              <a:t>Research Gap Identification</a:t>
            </a:r>
          </a:p>
        </p:txBody>
      </p:sp>
      <p:graphicFrame>
        <p:nvGraphicFramePr>
          <p:cNvPr id="4" name="Table 3"/>
          <p:cNvGraphicFramePr>
            <a:graphicFrameLocks noGrp="1"/>
          </p:cNvGraphicFramePr>
          <p:nvPr/>
        </p:nvGraphicFramePr>
        <p:xfrm>
          <a:off x="0" y="1051560"/>
          <a:ext cx="12192000" cy="5806440"/>
        </p:xfrm>
        <a:graphic>
          <a:graphicData uri="http://schemas.openxmlformats.org/drawingml/2006/table">
            <a:tbl>
              <a:tblPr firstRow="1" bandRow="1">
                <a:tableStyleId>{073A0DAA-6AF3-43AB-8588-CEC1D06C72B9}</a:tableStyleId>
              </a:tblPr>
              <a:tblGrid>
                <a:gridCol w="456131">
                  <a:extLst>
                    <a:ext uri="{9D8B030D-6E8A-4147-A177-3AD203B41FA5}">
                      <a16:colId xmlns:a16="http://schemas.microsoft.com/office/drawing/2014/main" val="20000"/>
                    </a:ext>
                  </a:extLst>
                </a:gridCol>
                <a:gridCol w="2138115">
                  <a:extLst>
                    <a:ext uri="{9D8B030D-6E8A-4147-A177-3AD203B41FA5}">
                      <a16:colId xmlns:a16="http://schemas.microsoft.com/office/drawing/2014/main" val="20001"/>
                    </a:ext>
                  </a:extLst>
                </a:gridCol>
                <a:gridCol w="1282868">
                  <a:extLst>
                    <a:ext uri="{9D8B030D-6E8A-4147-A177-3AD203B41FA5}">
                      <a16:colId xmlns:a16="http://schemas.microsoft.com/office/drawing/2014/main" val="20002"/>
                    </a:ext>
                  </a:extLst>
                </a:gridCol>
                <a:gridCol w="1948058">
                  <a:extLst>
                    <a:ext uri="{9D8B030D-6E8A-4147-A177-3AD203B41FA5}">
                      <a16:colId xmlns:a16="http://schemas.microsoft.com/office/drawing/2014/main" val="20003"/>
                    </a:ext>
                  </a:extLst>
                </a:gridCol>
                <a:gridCol w="2090600">
                  <a:extLst>
                    <a:ext uri="{9D8B030D-6E8A-4147-A177-3AD203B41FA5}">
                      <a16:colId xmlns:a16="http://schemas.microsoft.com/office/drawing/2014/main" val="20004"/>
                    </a:ext>
                  </a:extLst>
                </a:gridCol>
                <a:gridCol w="4276228">
                  <a:extLst>
                    <a:ext uri="{9D8B030D-6E8A-4147-A177-3AD203B41FA5}">
                      <a16:colId xmlns:a16="http://schemas.microsoft.com/office/drawing/2014/main" val="20005"/>
                    </a:ext>
                  </a:extLst>
                </a:gridCol>
              </a:tblGrid>
              <a:tr h="967740">
                <a:tc>
                  <a:txBody>
                    <a:bodyPr/>
                    <a:lstStyle/>
                    <a:p>
                      <a:pPr algn="ctr">
                        <a:spcAft>
                          <a:spcPts val="0"/>
                        </a:spcAft>
                      </a:pPr>
                      <a:r>
                        <a:rPr sz="1100" b="1"/>
                        <a:t>S.No.</a:t>
                      </a:r>
                      <a:endParaRPr sz="1100" b="1">
                        <a:latin typeface="Arial"/>
                      </a:endParaRPr>
                    </a:p>
                  </a:txBody>
                  <a:tcPr anchor="ctr"/>
                </a:tc>
                <a:tc>
                  <a:txBody>
                    <a:bodyPr/>
                    <a:lstStyle/>
                    <a:p>
                      <a:pPr algn="ctr">
                        <a:spcAft>
                          <a:spcPts val="0"/>
                        </a:spcAft>
                      </a:pPr>
                      <a:r>
                        <a:rPr sz="1100" b="1" dirty="0"/>
                        <a:t>Paper Title</a:t>
                      </a:r>
                      <a:endParaRPr sz="1100" b="1" dirty="0">
                        <a:latin typeface="Arial"/>
                      </a:endParaRPr>
                    </a:p>
                  </a:txBody>
                  <a:tcPr anchor="ctr"/>
                </a:tc>
                <a:tc>
                  <a:txBody>
                    <a:bodyPr/>
                    <a:lstStyle/>
                    <a:p>
                      <a:pPr algn="ctr">
                        <a:spcAft>
                          <a:spcPts val="0"/>
                        </a:spcAft>
                      </a:pPr>
                      <a:r>
                        <a:rPr sz="1100" b="1"/>
                        <a:t>Author Name(s)</a:t>
                      </a:r>
                      <a:endParaRPr sz="1100" b="1">
                        <a:latin typeface="Arial"/>
                      </a:endParaRPr>
                    </a:p>
                  </a:txBody>
                  <a:tcPr anchor="ctr"/>
                </a:tc>
                <a:tc>
                  <a:txBody>
                    <a:bodyPr/>
                    <a:lstStyle/>
                    <a:p>
                      <a:pPr algn="ctr">
                        <a:spcAft>
                          <a:spcPts val="0"/>
                        </a:spcAft>
                      </a:pPr>
                      <a:r>
                        <a:rPr sz="1100" b="1"/>
                        <a:t>Methodology / Model Used</a:t>
                      </a:r>
                      <a:endParaRPr sz="1100" b="1">
                        <a:latin typeface="Arial"/>
                      </a:endParaRPr>
                    </a:p>
                  </a:txBody>
                  <a:tcPr anchor="ctr"/>
                </a:tc>
                <a:tc>
                  <a:txBody>
                    <a:bodyPr/>
                    <a:lstStyle/>
                    <a:p>
                      <a:pPr algn="ctr">
                        <a:spcAft>
                          <a:spcPts val="0"/>
                        </a:spcAft>
                      </a:pPr>
                      <a:r>
                        <a:rPr sz="1100" b="1"/>
                        <a:t>Key Findings</a:t>
                      </a:r>
                      <a:endParaRPr sz="1100" b="1">
                        <a:latin typeface="Arial"/>
                      </a:endParaRPr>
                    </a:p>
                  </a:txBody>
                  <a:tcPr anchor="ctr"/>
                </a:tc>
                <a:tc>
                  <a:txBody>
                    <a:bodyPr/>
                    <a:lstStyle/>
                    <a:p>
                      <a:pPr algn="ctr">
                        <a:spcAft>
                          <a:spcPts val="0"/>
                        </a:spcAft>
                      </a:pPr>
                      <a:r>
                        <a:rPr sz="1100" b="1"/>
                        <a:t>Research Gap Identified</a:t>
                      </a:r>
                      <a:endParaRPr sz="1100" b="1">
                        <a:latin typeface="Arial"/>
                      </a:endParaRPr>
                    </a:p>
                  </a:txBody>
                  <a:tcPr anchor="ctr"/>
                </a:tc>
                <a:extLst>
                  <a:ext uri="{0D108BD9-81ED-4DB2-BD59-A6C34878D82A}">
                    <a16:rowId xmlns:a16="http://schemas.microsoft.com/office/drawing/2014/main" val="10000"/>
                  </a:ext>
                </a:extLst>
              </a:tr>
              <a:tr h="967740">
                <a:tc>
                  <a:txBody>
                    <a:bodyPr/>
                    <a:lstStyle/>
                    <a:p>
                      <a:pPr algn="ctr">
                        <a:spcAft>
                          <a:spcPts val="0"/>
                        </a:spcAft>
                      </a:pPr>
                      <a:r>
                        <a:rPr sz="1100" b="0"/>
                        <a:t>1</a:t>
                      </a:r>
                      <a:endParaRPr sz="1100" b="0">
                        <a:latin typeface="Arial"/>
                      </a:endParaRPr>
                    </a:p>
                  </a:txBody>
                  <a:tcPr anchor="ctr"/>
                </a:tc>
                <a:tc>
                  <a:txBody>
                    <a:bodyPr/>
                    <a:lstStyle/>
                    <a:p>
                      <a:pPr algn="ctr">
                        <a:spcAft>
                          <a:spcPts val="0"/>
                        </a:spcAft>
                      </a:pPr>
                      <a:r>
                        <a:rPr sz="1100" b="0"/>
                        <a:t>Millennials' Adoption of Personal Financial Management Technology and Financial Behavior</a:t>
                      </a:r>
                      <a:endParaRPr sz="1100" b="0">
                        <a:latin typeface="Arial"/>
                      </a:endParaRPr>
                    </a:p>
                  </a:txBody>
                  <a:tcPr anchor="ctr"/>
                </a:tc>
                <a:tc>
                  <a:txBody>
                    <a:bodyPr/>
                    <a:lstStyle/>
                    <a:p>
                      <a:pPr algn="ctr">
                        <a:spcAft>
                          <a:spcPts val="0"/>
                        </a:spcAft>
                      </a:pPr>
                      <a:r>
                        <a:rPr sz="1100" b="0"/>
                        <a:t>Walsh &amp; Lim</a:t>
                      </a:r>
                      <a:endParaRPr sz="1100" b="0">
                        <a:latin typeface="Arial"/>
                      </a:endParaRPr>
                    </a:p>
                  </a:txBody>
                  <a:tcPr anchor="ctr"/>
                </a:tc>
                <a:tc>
                  <a:txBody>
                    <a:bodyPr/>
                    <a:lstStyle/>
                    <a:p>
                      <a:pPr algn="ctr">
                        <a:spcAft>
                          <a:spcPts val="0"/>
                        </a:spcAft>
                      </a:pPr>
                      <a:r>
                        <a:rPr sz="1100" b="0"/>
                        <a:t>Technology Acceptance Model; statistical analysis</a:t>
                      </a:r>
                      <a:endParaRPr sz="1100" b="0">
                        <a:latin typeface="Arial"/>
                      </a:endParaRPr>
                    </a:p>
                  </a:txBody>
                  <a:tcPr anchor="ctr"/>
                </a:tc>
                <a:tc>
                  <a:txBody>
                    <a:bodyPr/>
                    <a:lstStyle/>
                    <a:p>
                      <a:pPr algn="ctr">
                        <a:spcAft>
                          <a:spcPts val="0"/>
                        </a:spcAft>
                      </a:pPr>
                      <a:r>
                        <a:rPr sz="1100" b="0"/>
                        <a:t>PFM technology adoption is associated with financial behavior.</a:t>
                      </a:r>
                      <a:endParaRPr sz="1100" b="0">
                        <a:latin typeface="Arial"/>
                      </a:endParaRPr>
                    </a:p>
                  </a:txBody>
                  <a:tcPr anchor="ctr"/>
                </a:tc>
                <a:tc>
                  <a:txBody>
                    <a:bodyPr/>
                    <a:lstStyle/>
                    <a:p>
                      <a:pPr algn="ctr">
                        <a:spcAft>
                          <a:spcPts val="0"/>
                        </a:spcAft>
                      </a:pPr>
                      <a:r>
                        <a:rPr sz="1100" b="0"/>
                        <a:t>Focuses on adoption and behavior rather than an integrated intelligent finance-management system.</a:t>
                      </a:r>
                      <a:endParaRPr sz="1100" b="0">
                        <a:latin typeface="Arial"/>
                      </a:endParaRPr>
                    </a:p>
                  </a:txBody>
                  <a:tcPr anchor="ctr"/>
                </a:tc>
                <a:extLst>
                  <a:ext uri="{0D108BD9-81ED-4DB2-BD59-A6C34878D82A}">
                    <a16:rowId xmlns:a16="http://schemas.microsoft.com/office/drawing/2014/main" val="10001"/>
                  </a:ext>
                </a:extLst>
              </a:tr>
              <a:tr h="967740">
                <a:tc>
                  <a:txBody>
                    <a:bodyPr/>
                    <a:lstStyle/>
                    <a:p>
                      <a:pPr algn="ctr">
                        <a:spcAft>
                          <a:spcPts val="0"/>
                        </a:spcAft>
                      </a:pPr>
                      <a:r>
                        <a:rPr sz="1100" b="0"/>
                        <a:t>2</a:t>
                      </a:r>
                      <a:endParaRPr sz="1100" b="0">
                        <a:latin typeface="Arial"/>
                      </a:endParaRPr>
                    </a:p>
                  </a:txBody>
                  <a:tcPr anchor="ctr"/>
                </a:tc>
                <a:tc>
                  <a:txBody>
                    <a:bodyPr/>
                    <a:lstStyle/>
                    <a:p>
                      <a:pPr algn="ctr">
                        <a:spcAft>
                          <a:spcPts val="0"/>
                        </a:spcAft>
                      </a:pPr>
                      <a:r>
                        <a:rPr sz="1100" b="0"/>
                        <a:t>Behavioral Influence and Financial Decision of Individuals</a:t>
                      </a:r>
                      <a:endParaRPr sz="1100" b="0">
                        <a:latin typeface="Arial"/>
                      </a:endParaRPr>
                    </a:p>
                  </a:txBody>
                  <a:tcPr anchor="ctr"/>
                </a:tc>
                <a:tc>
                  <a:txBody>
                    <a:bodyPr/>
                    <a:lstStyle/>
                    <a:p>
                      <a:pPr algn="ctr">
                        <a:spcAft>
                          <a:spcPts val="0"/>
                        </a:spcAft>
                      </a:pPr>
                      <a:r>
                        <a:rPr sz="1100" b="0"/>
                        <a:t>Mahapatra &amp; Mishra</a:t>
                      </a:r>
                      <a:endParaRPr sz="1100" b="0">
                        <a:latin typeface="Arial"/>
                      </a:endParaRPr>
                    </a:p>
                  </a:txBody>
                  <a:tcPr anchor="ctr"/>
                </a:tc>
                <a:tc>
                  <a:txBody>
                    <a:bodyPr/>
                    <a:lstStyle/>
                    <a:p>
                      <a:pPr algn="ctr">
                        <a:spcAft>
                          <a:spcPts val="0"/>
                        </a:spcAft>
                      </a:pPr>
                      <a:r>
                        <a:rPr sz="1100" b="0" dirty="0"/>
                        <a:t>Survey; PLS-SEM</a:t>
                      </a:r>
                      <a:endParaRPr sz="1100" b="0" dirty="0">
                        <a:latin typeface="Arial"/>
                      </a:endParaRPr>
                    </a:p>
                  </a:txBody>
                  <a:tcPr anchor="ctr"/>
                </a:tc>
                <a:tc>
                  <a:txBody>
                    <a:bodyPr/>
                    <a:lstStyle/>
                    <a:p>
                      <a:pPr algn="ctr">
                        <a:spcAft>
                          <a:spcPts val="0"/>
                        </a:spcAft>
                      </a:pPr>
                      <a:r>
                        <a:rPr sz="1100" b="0"/>
                        <a:t>Mental accounting influences personal financial decisions.</a:t>
                      </a:r>
                      <a:endParaRPr sz="1100" b="0">
                        <a:latin typeface="Arial"/>
                      </a:endParaRPr>
                    </a:p>
                  </a:txBody>
                  <a:tcPr anchor="ctr"/>
                </a:tc>
                <a:tc>
                  <a:txBody>
                    <a:bodyPr/>
                    <a:lstStyle/>
                    <a:p>
                      <a:pPr algn="ctr">
                        <a:spcAft>
                          <a:spcPts val="0"/>
                        </a:spcAft>
                      </a:pPr>
                      <a:r>
                        <a:rPr sz="1100" b="0"/>
                        <a:t>Identifies behavioral factors but does not continuously analyze individual spending.</a:t>
                      </a:r>
                      <a:endParaRPr sz="1100" b="0">
                        <a:latin typeface="Arial"/>
                      </a:endParaRPr>
                    </a:p>
                  </a:txBody>
                  <a:tcPr anchor="ctr"/>
                </a:tc>
                <a:extLst>
                  <a:ext uri="{0D108BD9-81ED-4DB2-BD59-A6C34878D82A}">
                    <a16:rowId xmlns:a16="http://schemas.microsoft.com/office/drawing/2014/main" val="10002"/>
                  </a:ext>
                </a:extLst>
              </a:tr>
              <a:tr h="967740">
                <a:tc>
                  <a:txBody>
                    <a:bodyPr/>
                    <a:lstStyle/>
                    <a:p>
                      <a:pPr algn="ctr">
                        <a:spcAft>
                          <a:spcPts val="0"/>
                        </a:spcAft>
                      </a:pPr>
                      <a:r>
                        <a:rPr sz="1100" b="0"/>
                        <a:t>3</a:t>
                      </a:r>
                      <a:endParaRPr sz="1100" b="0">
                        <a:latin typeface="Arial"/>
                      </a:endParaRPr>
                    </a:p>
                  </a:txBody>
                  <a:tcPr anchor="ctr"/>
                </a:tc>
                <a:tc>
                  <a:txBody>
                    <a:bodyPr/>
                    <a:lstStyle/>
                    <a:p>
                      <a:pPr algn="ctr">
                        <a:spcAft>
                          <a:spcPts val="0"/>
                        </a:spcAft>
                      </a:pPr>
                      <a:r>
                        <a:rPr sz="1100" b="0"/>
                        <a:t>Personal Finance Apps and Low-Income Households</a:t>
                      </a:r>
                      <a:endParaRPr sz="1100" b="0">
                        <a:latin typeface="Arial"/>
                      </a:endParaRPr>
                    </a:p>
                  </a:txBody>
                  <a:tcPr anchor="ctr"/>
                </a:tc>
                <a:tc>
                  <a:txBody>
                    <a:bodyPr/>
                    <a:lstStyle/>
                    <a:p>
                      <a:pPr algn="ctr">
                        <a:spcAft>
                          <a:spcPts val="0"/>
                        </a:spcAft>
                      </a:pPr>
                      <a:r>
                        <a:rPr sz="1100" b="0"/>
                        <a:t>French, McKillop &amp; Stewart</a:t>
                      </a:r>
                      <a:endParaRPr sz="1100" b="0">
                        <a:latin typeface="Arial"/>
                      </a:endParaRPr>
                    </a:p>
                  </a:txBody>
                  <a:tcPr anchor="ctr"/>
                </a:tc>
                <a:tc>
                  <a:txBody>
                    <a:bodyPr/>
                    <a:lstStyle/>
                    <a:p>
                      <a:pPr algn="ctr">
                        <a:spcAft>
                          <a:spcPts val="0"/>
                        </a:spcAft>
                      </a:pPr>
                      <a:r>
                        <a:rPr sz="1100" b="0"/>
                        <a:t>Empirical / survey analysis</a:t>
                      </a:r>
                      <a:endParaRPr sz="1100" b="0">
                        <a:latin typeface="Arial"/>
                      </a:endParaRPr>
                    </a:p>
                  </a:txBody>
                  <a:tcPr anchor="ctr"/>
                </a:tc>
                <a:tc>
                  <a:txBody>
                    <a:bodyPr/>
                    <a:lstStyle/>
                    <a:p>
                      <a:pPr algn="ctr">
                        <a:spcAft>
                          <a:spcPts val="0"/>
                        </a:spcAft>
                      </a:pPr>
                      <a:r>
                        <a:rPr sz="1100" b="0"/>
                        <a:t>PFM apps can improve financial capability.</a:t>
                      </a:r>
                      <a:endParaRPr sz="1100" b="0">
                        <a:latin typeface="Arial"/>
                      </a:endParaRPr>
                    </a:p>
                  </a:txBody>
                  <a:tcPr anchor="ctr"/>
                </a:tc>
                <a:tc>
                  <a:txBody>
                    <a:bodyPr/>
                    <a:lstStyle/>
                    <a:p>
                      <a:pPr algn="ctr">
                        <a:spcAft>
                          <a:spcPts val="0"/>
                        </a:spcAft>
                      </a:pPr>
                      <a:r>
                        <a:rPr sz="1100" b="0"/>
                        <a:t>Limited personalized analytics and intelligent recommendations.</a:t>
                      </a:r>
                      <a:endParaRPr sz="1100" b="0">
                        <a:latin typeface="Arial"/>
                      </a:endParaRPr>
                    </a:p>
                  </a:txBody>
                  <a:tcPr anchor="ctr"/>
                </a:tc>
                <a:extLst>
                  <a:ext uri="{0D108BD9-81ED-4DB2-BD59-A6C34878D82A}">
                    <a16:rowId xmlns:a16="http://schemas.microsoft.com/office/drawing/2014/main" val="10003"/>
                  </a:ext>
                </a:extLst>
              </a:tr>
              <a:tr h="967740">
                <a:tc>
                  <a:txBody>
                    <a:bodyPr/>
                    <a:lstStyle/>
                    <a:p>
                      <a:pPr algn="ctr">
                        <a:spcAft>
                          <a:spcPts val="0"/>
                        </a:spcAft>
                      </a:pPr>
                      <a:r>
                        <a:rPr sz="1100" b="0"/>
                        <a:t>4</a:t>
                      </a:r>
                      <a:endParaRPr sz="1100" b="0">
                        <a:latin typeface="Arial"/>
                      </a:endParaRPr>
                    </a:p>
                  </a:txBody>
                  <a:tcPr anchor="ctr"/>
                </a:tc>
                <a:tc>
                  <a:txBody>
                    <a:bodyPr/>
                    <a:lstStyle/>
                    <a:p>
                      <a:pPr algn="ctr">
                        <a:spcAft>
                          <a:spcPts val="0"/>
                        </a:spcAft>
                      </a:pPr>
                      <a:r>
                        <a:rPr sz="1100" b="0"/>
                        <a:t>Inferring Psychological Traits from Spending Categories and Dynamic Consumption Patterns</a:t>
                      </a:r>
                      <a:endParaRPr sz="1100" b="0">
                        <a:latin typeface="Arial"/>
                      </a:endParaRPr>
                    </a:p>
                  </a:txBody>
                  <a:tcPr anchor="ctr"/>
                </a:tc>
                <a:tc>
                  <a:txBody>
                    <a:bodyPr/>
                    <a:lstStyle/>
                    <a:p>
                      <a:pPr algn="ctr">
                        <a:spcAft>
                          <a:spcPts val="0"/>
                        </a:spcAft>
                      </a:pPr>
                      <a:r>
                        <a:rPr sz="1100" b="0"/>
                        <a:t>Tovanich et al.</a:t>
                      </a:r>
                      <a:endParaRPr sz="1100" b="0">
                        <a:latin typeface="Arial"/>
                      </a:endParaRPr>
                    </a:p>
                  </a:txBody>
                  <a:tcPr anchor="ctr"/>
                </a:tc>
                <a:tc>
                  <a:txBody>
                    <a:bodyPr/>
                    <a:lstStyle/>
                    <a:p>
                      <a:pPr algn="ctr">
                        <a:spcAft>
                          <a:spcPts val="0"/>
                        </a:spcAft>
                      </a:pPr>
                      <a:r>
                        <a:rPr sz="1100" b="0"/>
                        <a:t>Logistic Regression; Random Forest; XGBoost</a:t>
                      </a:r>
                      <a:endParaRPr sz="1100" b="0">
                        <a:latin typeface="Arial"/>
                      </a:endParaRPr>
                    </a:p>
                  </a:txBody>
                  <a:tcPr anchor="ctr"/>
                </a:tc>
                <a:tc>
                  <a:txBody>
                    <a:bodyPr/>
                    <a:lstStyle/>
                    <a:p>
                      <a:pPr algn="ctr">
                        <a:spcAft>
                          <a:spcPts val="0"/>
                        </a:spcAft>
                      </a:pPr>
                      <a:r>
                        <a:rPr sz="1100" b="0"/>
                        <a:t>Transaction patterns can reveal useful behavioral characteristics.</a:t>
                      </a:r>
                      <a:endParaRPr sz="1100" b="0">
                        <a:latin typeface="Arial"/>
                      </a:endParaRPr>
                    </a:p>
                  </a:txBody>
                  <a:tcPr anchor="ctr"/>
                </a:tc>
                <a:tc>
                  <a:txBody>
                    <a:bodyPr/>
                    <a:lstStyle/>
                    <a:p>
                      <a:pPr algn="ctr">
                        <a:spcAft>
                          <a:spcPts val="0"/>
                        </a:spcAft>
                      </a:pPr>
                      <a:r>
                        <a:rPr sz="1100" b="0"/>
                        <a:t>Focuses on behavioral inference rather than actionable financial decision support.</a:t>
                      </a:r>
                      <a:endParaRPr sz="1100" b="0">
                        <a:latin typeface="Arial"/>
                      </a:endParaRPr>
                    </a:p>
                  </a:txBody>
                  <a:tcPr anchor="ctr"/>
                </a:tc>
                <a:extLst>
                  <a:ext uri="{0D108BD9-81ED-4DB2-BD59-A6C34878D82A}">
                    <a16:rowId xmlns:a16="http://schemas.microsoft.com/office/drawing/2014/main" val="10004"/>
                  </a:ext>
                </a:extLst>
              </a:tr>
              <a:tr h="967740">
                <a:tc>
                  <a:txBody>
                    <a:bodyPr/>
                    <a:lstStyle/>
                    <a:p>
                      <a:pPr algn="ctr">
                        <a:spcAft>
                          <a:spcPts val="0"/>
                        </a:spcAft>
                      </a:pPr>
                      <a:r>
                        <a:rPr sz="1100" b="0"/>
                        <a:t>5</a:t>
                      </a:r>
                      <a:endParaRPr sz="1100" b="0">
                        <a:latin typeface="Arial"/>
                      </a:endParaRPr>
                    </a:p>
                  </a:txBody>
                  <a:tcPr anchor="ctr"/>
                </a:tc>
                <a:tc>
                  <a:txBody>
                    <a:bodyPr/>
                    <a:lstStyle/>
                    <a:p>
                      <a:pPr algn="ctr">
                        <a:spcAft>
                          <a:spcPts val="0"/>
                        </a:spcAft>
                      </a:pPr>
                      <a:r>
                        <a:rPr sz="1100" b="0"/>
                        <a:t>Understanding Spending Behavior: RNN Explanation and Interpretation</a:t>
                      </a:r>
                      <a:endParaRPr sz="1100" b="0">
                        <a:latin typeface="Arial"/>
                      </a:endParaRPr>
                    </a:p>
                  </a:txBody>
                  <a:tcPr anchor="ctr"/>
                </a:tc>
                <a:tc>
                  <a:txBody>
                    <a:bodyPr/>
                    <a:lstStyle/>
                    <a:p>
                      <a:pPr algn="ctr">
                        <a:spcAft>
                          <a:spcPts val="0"/>
                        </a:spcAft>
                      </a:pPr>
                      <a:r>
                        <a:rPr sz="1100" b="0"/>
                        <a:t>Maree &amp; Omlin</a:t>
                      </a:r>
                      <a:endParaRPr sz="1100" b="0">
                        <a:latin typeface="Arial"/>
                      </a:endParaRPr>
                    </a:p>
                  </a:txBody>
                  <a:tcPr anchor="ctr"/>
                </a:tc>
                <a:tc>
                  <a:txBody>
                    <a:bodyPr/>
                    <a:lstStyle/>
                    <a:p>
                      <a:pPr algn="ctr">
                        <a:spcAft>
                          <a:spcPts val="0"/>
                        </a:spcAft>
                      </a:pPr>
                      <a:r>
                        <a:rPr sz="1100" b="0"/>
                        <a:t>RNN; regression; state-space analysis</a:t>
                      </a:r>
                      <a:endParaRPr sz="1100" b="0">
                        <a:latin typeface="Arial"/>
                      </a:endParaRPr>
                    </a:p>
                  </a:txBody>
                  <a:tcPr anchor="ctr"/>
                </a:tc>
                <a:tc>
                  <a:txBody>
                    <a:bodyPr/>
                    <a:lstStyle/>
                    <a:p>
                      <a:pPr algn="ctr">
                        <a:spcAft>
                          <a:spcPts val="0"/>
                        </a:spcAft>
                      </a:pPr>
                      <a:r>
                        <a:rPr sz="1100" b="0"/>
                        <a:t>Temporal spending behavior can be modeled using RNNs.</a:t>
                      </a:r>
                      <a:endParaRPr sz="1100" b="0">
                        <a:latin typeface="Arial"/>
                      </a:endParaRPr>
                    </a:p>
                  </a:txBody>
                  <a:tcPr anchor="ctr"/>
                </a:tc>
                <a:tc>
                  <a:txBody>
                    <a:bodyPr/>
                    <a:lstStyle/>
                    <a:p>
                      <a:pPr algn="ctr">
                        <a:spcAft>
                          <a:spcPts val="0"/>
                        </a:spcAft>
                      </a:pPr>
                      <a:r>
                        <a:rPr sz="1100" b="0" dirty="0"/>
                        <a:t>Complex modeling is not integrated into a simple personal-finance framework.</a:t>
                      </a:r>
                      <a:endParaRPr sz="1100" b="0" dirty="0">
                        <a:latin typeface="Arial"/>
                      </a:endParaRPr>
                    </a:p>
                  </a:txBody>
                  <a:tcPr anchor="ctr"/>
                </a:tc>
                <a:extLst>
                  <a:ext uri="{0D108BD9-81ED-4DB2-BD59-A6C34878D82A}">
                    <a16:rowId xmlns:a16="http://schemas.microsoft.com/office/drawing/2014/main" val="10005"/>
                  </a:ext>
                </a:extLst>
              </a:tr>
            </a:tbl>
          </a:graphicData>
        </a:graphic>
      </p:graphicFrame>
      <p:sp>
        <p:nvSpPr>
          <p:cNvPr id="5" name="TextBox 4"/>
          <p:cNvSpPr txBox="1"/>
          <p:nvPr/>
        </p:nvSpPr>
        <p:spPr>
          <a:xfrm>
            <a:off x="274320" y="6309360"/>
            <a:ext cx="11612880" cy="228600"/>
          </a:xfrm>
          <a:prstGeom prst="rect">
            <a:avLst/>
          </a:prstGeom>
          <a:noFill/>
        </p:spPr>
        <p:txBody>
          <a:bodyPr wrap="none">
            <a:spAutoFit/>
          </a:bodyPr>
          <a:lstStyle/>
          <a:p>
            <a:pPr algn="r"/>
            <a:r>
              <a:rPr sz="800">
                <a:latin typeface="Arial"/>
              </a:rPr>
              <a:t>PRC-I  |  1/3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0" y="0"/>
          <a:ext cx="12192001" cy="6858000"/>
        </p:xfrm>
        <a:graphic>
          <a:graphicData uri="http://schemas.openxmlformats.org/drawingml/2006/table">
            <a:tbl>
              <a:tblPr firstRow="1" bandRow="1">
                <a:tableStyleId>{073A0DAA-6AF3-43AB-8588-CEC1D06C72B9}</a:tableStyleId>
              </a:tblPr>
              <a:tblGrid>
                <a:gridCol w="456131">
                  <a:extLst>
                    <a:ext uri="{9D8B030D-6E8A-4147-A177-3AD203B41FA5}">
                      <a16:colId xmlns:a16="http://schemas.microsoft.com/office/drawing/2014/main" val="20000"/>
                    </a:ext>
                  </a:extLst>
                </a:gridCol>
                <a:gridCol w="2138114">
                  <a:extLst>
                    <a:ext uri="{9D8B030D-6E8A-4147-A177-3AD203B41FA5}">
                      <a16:colId xmlns:a16="http://schemas.microsoft.com/office/drawing/2014/main" val="20001"/>
                    </a:ext>
                  </a:extLst>
                </a:gridCol>
                <a:gridCol w="1282869">
                  <a:extLst>
                    <a:ext uri="{9D8B030D-6E8A-4147-A177-3AD203B41FA5}">
                      <a16:colId xmlns:a16="http://schemas.microsoft.com/office/drawing/2014/main" val="20002"/>
                    </a:ext>
                  </a:extLst>
                </a:gridCol>
                <a:gridCol w="1948058">
                  <a:extLst>
                    <a:ext uri="{9D8B030D-6E8A-4147-A177-3AD203B41FA5}">
                      <a16:colId xmlns:a16="http://schemas.microsoft.com/office/drawing/2014/main" val="20003"/>
                    </a:ext>
                  </a:extLst>
                </a:gridCol>
                <a:gridCol w="2090601">
                  <a:extLst>
                    <a:ext uri="{9D8B030D-6E8A-4147-A177-3AD203B41FA5}">
                      <a16:colId xmlns:a16="http://schemas.microsoft.com/office/drawing/2014/main" val="20004"/>
                    </a:ext>
                  </a:extLst>
                </a:gridCol>
                <a:gridCol w="4276228">
                  <a:extLst>
                    <a:ext uri="{9D8B030D-6E8A-4147-A177-3AD203B41FA5}">
                      <a16:colId xmlns:a16="http://schemas.microsoft.com/office/drawing/2014/main" val="20005"/>
                    </a:ext>
                  </a:extLst>
                </a:gridCol>
              </a:tblGrid>
              <a:tr h="1143000">
                <a:tc>
                  <a:txBody>
                    <a:bodyPr/>
                    <a:lstStyle/>
                    <a:p>
                      <a:pPr algn="ctr">
                        <a:spcAft>
                          <a:spcPts val="0"/>
                        </a:spcAft>
                      </a:pPr>
                      <a:r>
                        <a:rPr sz="1100" b="1"/>
                        <a:t>S.No.</a:t>
                      </a:r>
                      <a:endParaRPr sz="1100" b="1">
                        <a:latin typeface="Arial"/>
                      </a:endParaRPr>
                    </a:p>
                  </a:txBody>
                  <a:tcPr anchor="ctr"/>
                </a:tc>
                <a:tc>
                  <a:txBody>
                    <a:bodyPr/>
                    <a:lstStyle/>
                    <a:p>
                      <a:pPr algn="ctr">
                        <a:spcAft>
                          <a:spcPts val="0"/>
                        </a:spcAft>
                      </a:pPr>
                      <a:r>
                        <a:rPr sz="1100" b="1"/>
                        <a:t>Paper Title</a:t>
                      </a:r>
                      <a:endParaRPr sz="1100" b="1">
                        <a:latin typeface="Arial"/>
                      </a:endParaRPr>
                    </a:p>
                  </a:txBody>
                  <a:tcPr anchor="ctr"/>
                </a:tc>
                <a:tc>
                  <a:txBody>
                    <a:bodyPr/>
                    <a:lstStyle/>
                    <a:p>
                      <a:pPr algn="ctr">
                        <a:spcAft>
                          <a:spcPts val="0"/>
                        </a:spcAft>
                      </a:pPr>
                      <a:r>
                        <a:rPr sz="1100" b="1"/>
                        <a:t>Author Name(s)</a:t>
                      </a:r>
                      <a:endParaRPr sz="1100" b="1">
                        <a:latin typeface="Arial"/>
                      </a:endParaRPr>
                    </a:p>
                  </a:txBody>
                  <a:tcPr anchor="ctr"/>
                </a:tc>
                <a:tc>
                  <a:txBody>
                    <a:bodyPr/>
                    <a:lstStyle/>
                    <a:p>
                      <a:pPr algn="ctr">
                        <a:spcAft>
                          <a:spcPts val="0"/>
                        </a:spcAft>
                      </a:pPr>
                      <a:r>
                        <a:rPr sz="1100" b="1"/>
                        <a:t>Methodology / Model Used</a:t>
                      </a:r>
                      <a:endParaRPr sz="1100" b="1">
                        <a:latin typeface="Arial"/>
                      </a:endParaRPr>
                    </a:p>
                  </a:txBody>
                  <a:tcPr anchor="ctr"/>
                </a:tc>
                <a:tc>
                  <a:txBody>
                    <a:bodyPr/>
                    <a:lstStyle/>
                    <a:p>
                      <a:pPr algn="ctr">
                        <a:spcAft>
                          <a:spcPts val="0"/>
                        </a:spcAft>
                      </a:pPr>
                      <a:r>
                        <a:rPr sz="1100" b="1" dirty="0"/>
                        <a:t>Key Findings</a:t>
                      </a:r>
                      <a:endParaRPr sz="1100" b="1" dirty="0">
                        <a:latin typeface="Arial"/>
                      </a:endParaRPr>
                    </a:p>
                  </a:txBody>
                  <a:tcPr anchor="ctr"/>
                </a:tc>
                <a:tc>
                  <a:txBody>
                    <a:bodyPr/>
                    <a:lstStyle/>
                    <a:p>
                      <a:pPr algn="ctr">
                        <a:spcAft>
                          <a:spcPts val="0"/>
                        </a:spcAft>
                      </a:pPr>
                      <a:r>
                        <a:rPr sz="1100" b="1"/>
                        <a:t>Research Gap Identified</a:t>
                      </a:r>
                      <a:endParaRPr sz="1100" b="1">
                        <a:latin typeface="Arial"/>
                      </a:endParaRPr>
                    </a:p>
                  </a:txBody>
                  <a:tcPr anchor="ctr"/>
                </a:tc>
                <a:extLst>
                  <a:ext uri="{0D108BD9-81ED-4DB2-BD59-A6C34878D82A}">
                    <a16:rowId xmlns:a16="http://schemas.microsoft.com/office/drawing/2014/main" val="10000"/>
                  </a:ext>
                </a:extLst>
              </a:tr>
              <a:tr h="1143000">
                <a:tc>
                  <a:txBody>
                    <a:bodyPr/>
                    <a:lstStyle/>
                    <a:p>
                      <a:pPr algn="ctr">
                        <a:spcAft>
                          <a:spcPts val="0"/>
                        </a:spcAft>
                      </a:pPr>
                      <a:r>
                        <a:rPr sz="1100" b="0"/>
                        <a:t>6</a:t>
                      </a:r>
                      <a:endParaRPr sz="1100" b="0">
                        <a:latin typeface="Arial"/>
                      </a:endParaRPr>
                    </a:p>
                  </a:txBody>
                  <a:tcPr anchor="ctr"/>
                </a:tc>
                <a:tc>
                  <a:txBody>
                    <a:bodyPr/>
                    <a:lstStyle/>
                    <a:p>
                      <a:pPr algn="ctr">
                        <a:spcAft>
                          <a:spcPts val="0"/>
                        </a:spcAft>
                      </a:pPr>
                      <a:r>
                        <a:rPr sz="1100" b="0"/>
                        <a:t>Mobile Bookkeeper: PFM Application with Receipt Scanner</a:t>
                      </a:r>
                      <a:endParaRPr sz="1100" b="0">
                        <a:latin typeface="Arial"/>
                      </a:endParaRPr>
                    </a:p>
                  </a:txBody>
                  <a:tcPr anchor="ctr"/>
                </a:tc>
                <a:tc>
                  <a:txBody>
                    <a:bodyPr/>
                    <a:lstStyle/>
                    <a:p>
                      <a:pPr algn="ctr">
                        <a:spcAft>
                          <a:spcPts val="0"/>
                        </a:spcAft>
                      </a:pPr>
                      <a:r>
                        <a:rPr sz="1100" b="0"/>
                        <a:t>Garcia &amp; Claour</a:t>
                      </a:r>
                      <a:endParaRPr sz="1100" b="0">
                        <a:latin typeface="Arial"/>
                      </a:endParaRPr>
                    </a:p>
                  </a:txBody>
                  <a:tcPr anchor="ctr"/>
                </a:tc>
                <a:tc>
                  <a:txBody>
                    <a:bodyPr/>
                    <a:lstStyle/>
                    <a:p>
                      <a:pPr algn="ctr">
                        <a:spcAft>
                          <a:spcPts val="0"/>
                        </a:spcAft>
                      </a:pPr>
                      <a:r>
                        <a:rPr sz="1100" b="0"/>
                        <a:t>OCR; mobile application</a:t>
                      </a:r>
                      <a:endParaRPr sz="1100" b="0">
                        <a:latin typeface="Arial"/>
                      </a:endParaRPr>
                    </a:p>
                  </a:txBody>
                  <a:tcPr anchor="ctr"/>
                </a:tc>
                <a:tc>
                  <a:txBody>
                    <a:bodyPr/>
                    <a:lstStyle/>
                    <a:p>
                      <a:pPr algn="ctr">
                        <a:spcAft>
                          <a:spcPts val="0"/>
                        </a:spcAft>
                      </a:pPr>
                      <a:r>
                        <a:rPr sz="1100" b="0"/>
                        <a:t>Receipt scanning can reduce manual expense entry.</a:t>
                      </a:r>
                      <a:endParaRPr sz="1100" b="0">
                        <a:latin typeface="Arial"/>
                      </a:endParaRPr>
                    </a:p>
                  </a:txBody>
                  <a:tcPr anchor="ctr"/>
                </a:tc>
                <a:tc>
                  <a:txBody>
                    <a:bodyPr/>
                    <a:lstStyle/>
                    <a:p>
                      <a:pPr algn="ctr">
                        <a:spcAft>
                          <a:spcPts val="0"/>
                        </a:spcAft>
                      </a:pPr>
                      <a:r>
                        <a:rPr sz="1100" b="0"/>
                        <a:t>Mainly focuses on data capture; limited analytics and recommendations.</a:t>
                      </a:r>
                      <a:endParaRPr sz="1100" b="0">
                        <a:latin typeface="Arial"/>
                      </a:endParaRPr>
                    </a:p>
                  </a:txBody>
                  <a:tcPr anchor="ctr"/>
                </a:tc>
                <a:extLst>
                  <a:ext uri="{0D108BD9-81ED-4DB2-BD59-A6C34878D82A}">
                    <a16:rowId xmlns:a16="http://schemas.microsoft.com/office/drawing/2014/main" val="10001"/>
                  </a:ext>
                </a:extLst>
              </a:tr>
              <a:tr h="1143000">
                <a:tc>
                  <a:txBody>
                    <a:bodyPr/>
                    <a:lstStyle/>
                    <a:p>
                      <a:pPr algn="ctr">
                        <a:spcAft>
                          <a:spcPts val="0"/>
                        </a:spcAft>
                      </a:pPr>
                      <a:r>
                        <a:rPr sz="1100" b="0"/>
                        <a:t>7</a:t>
                      </a:r>
                      <a:endParaRPr sz="1100" b="0">
                        <a:latin typeface="Arial"/>
                      </a:endParaRPr>
                    </a:p>
                  </a:txBody>
                  <a:tcPr anchor="ctr"/>
                </a:tc>
                <a:tc>
                  <a:txBody>
                    <a:bodyPr/>
                    <a:lstStyle/>
                    <a:p>
                      <a:pPr algn="ctr">
                        <a:spcAft>
                          <a:spcPts val="0"/>
                        </a:spcAft>
                      </a:pPr>
                      <a:r>
                        <a:rPr sz="1100" b="0"/>
                        <a:t>Making Finance Fun: Gamification of PFM Apps</a:t>
                      </a:r>
                      <a:endParaRPr sz="1100" b="0">
                        <a:latin typeface="Arial"/>
                      </a:endParaRPr>
                    </a:p>
                  </a:txBody>
                  <a:tcPr anchor="ctr"/>
                </a:tc>
                <a:tc>
                  <a:txBody>
                    <a:bodyPr/>
                    <a:lstStyle/>
                    <a:p>
                      <a:pPr algn="ctr">
                        <a:spcAft>
                          <a:spcPts val="0"/>
                        </a:spcAft>
                      </a:pPr>
                      <a:r>
                        <a:rPr sz="1100" b="0" dirty="0"/>
                        <a:t>Rodrigues et al.</a:t>
                      </a:r>
                      <a:endParaRPr sz="1100" b="0" dirty="0">
                        <a:latin typeface="Arial"/>
                      </a:endParaRPr>
                    </a:p>
                  </a:txBody>
                  <a:tcPr anchor="ctr"/>
                </a:tc>
                <a:tc>
                  <a:txBody>
                    <a:bodyPr/>
                    <a:lstStyle/>
                    <a:p>
                      <a:pPr algn="ctr">
                        <a:spcAft>
                          <a:spcPts val="0"/>
                        </a:spcAft>
                      </a:pPr>
                      <a:r>
                        <a:rPr sz="1100" b="0"/>
                        <a:t>TAM; Self-Determination Theory; PLS-SEM</a:t>
                      </a:r>
                      <a:endParaRPr sz="1100" b="0">
                        <a:latin typeface="Arial"/>
                      </a:endParaRPr>
                    </a:p>
                  </a:txBody>
                  <a:tcPr anchor="ctr"/>
                </a:tc>
                <a:tc>
                  <a:txBody>
                    <a:bodyPr/>
                    <a:lstStyle/>
                    <a:p>
                      <a:pPr algn="ctr">
                        <a:spcAft>
                          <a:spcPts val="0"/>
                        </a:spcAft>
                      </a:pPr>
                      <a:r>
                        <a:rPr sz="1100" b="0"/>
                        <a:t>Gamification can improve motivation and PFM-app usage.</a:t>
                      </a:r>
                      <a:endParaRPr sz="1100" b="0">
                        <a:latin typeface="Arial"/>
                      </a:endParaRPr>
                    </a:p>
                  </a:txBody>
                  <a:tcPr anchor="ctr"/>
                </a:tc>
                <a:tc>
                  <a:txBody>
                    <a:bodyPr/>
                    <a:lstStyle/>
                    <a:p>
                      <a:pPr algn="ctr">
                        <a:spcAft>
                          <a:spcPts val="0"/>
                        </a:spcAft>
                      </a:pPr>
                      <a:r>
                        <a:rPr sz="1100" b="0"/>
                        <a:t>Focuses on engagement rather than deeper financial analytics and decision support.</a:t>
                      </a:r>
                      <a:endParaRPr sz="1100" b="0">
                        <a:latin typeface="Arial"/>
                      </a:endParaRPr>
                    </a:p>
                  </a:txBody>
                  <a:tcPr anchor="ctr"/>
                </a:tc>
                <a:extLst>
                  <a:ext uri="{0D108BD9-81ED-4DB2-BD59-A6C34878D82A}">
                    <a16:rowId xmlns:a16="http://schemas.microsoft.com/office/drawing/2014/main" val="10002"/>
                  </a:ext>
                </a:extLst>
              </a:tr>
              <a:tr h="1143000">
                <a:tc>
                  <a:txBody>
                    <a:bodyPr/>
                    <a:lstStyle/>
                    <a:p>
                      <a:pPr algn="ctr">
                        <a:spcAft>
                          <a:spcPts val="0"/>
                        </a:spcAft>
                      </a:pPr>
                      <a:r>
                        <a:rPr sz="1100" b="0"/>
                        <a:t>8</a:t>
                      </a:r>
                      <a:endParaRPr sz="1100" b="0">
                        <a:latin typeface="Arial"/>
                      </a:endParaRPr>
                    </a:p>
                  </a:txBody>
                  <a:tcPr anchor="ctr"/>
                </a:tc>
                <a:tc>
                  <a:txBody>
                    <a:bodyPr/>
                    <a:lstStyle/>
                    <a:p>
                      <a:pPr algn="ctr">
                        <a:spcAft>
                          <a:spcPts val="0"/>
                        </a:spcAft>
                      </a:pPr>
                      <a:r>
                        <a:rPr sz="1100" b="0"/>
                        <a:t>Envisioning Personal Finance and Expense Tracking for a Sustainable Future</a:t>
                      </a:r>
                      <a:endParaRPr sz="1100" b="0">
                        <a:latin typeface="Arial"/>
                      </a:endParaRPr>
                    </a:p>
                  </a:txBody>
                  <a:tcPr anchor="ctr"/>
                </a:tc>
                <a:tc>
                  <a:txBody>
                    <a:bodyPr/>
                    <a:lstStyle/>
                    <a:p>
                      <a:pPr algn="ctr">
                        <a:spcAft>
                          <a:spcPts val="0"/>
                        </a:spcAft>
                      </a:pPr>
                      <a:r>
                        <a:rPr sz="1100" b="0"/>
                        <a:t>Hahn, Lee &amp; Kim</a:t>
                      </a:r>
                      <a:endParaRPr sz="1100" b="0">
                        <a:latin typeface="Arial"/>
                      </a:endParaRPr>
                    </a:p>
                  </a:txBody>
                  <a:tcPr anchor="ctr"/>
                </a:tc>
                <a:tc>
                  <a:txBody>
                    <a:bodyPr/>
                    <a:lstStyle/>
                    <a:p>
                      <a:pPr algn="ctr">
                        <a:spcAft>
                          <a:spcPts val="0"/>
                        </a:spcAft>
                      </a:pPr>
                      <a:r>
                        <a:rPr sz="1100" b="0"/>
                        <a:t>User-centered design; survey evaluation</a:t>
                      </a:r>
                      <a:endParaRPr sz="1100" b="0">
                        <a:latin typeface="Arial"/>
                      </a:endParaRPr>
                    </a:p>
                  </a:txBody>
                  <a:tcPr anchor="ctr"/>
                </a:tc>
                <a:tc>
                  <a:txBody>
                    <a:bodyPr/>
                    <a:lstStyle/>
                    <a:p>
                      <a:pPr algn="ctr">
                        <a:spcAft>
                          <a:spcPts val="0"/>
                        </a:spcAft>
                      </a:pPr>
                      <a:r>
                        <a:rPr sz="1100" b="0"/>
                        <a:t>Reference points can improve understanding of financial goals.</a:t>
                      </a:r>
                      <a:endParaRPr sz="1100" b="0">
                        <a:latin typeface="Arial"/>
                      </a:endParaRPr>
                    </a:p>
                  </a:txBody>
                  <a:tcPr anchor="ctr"/>
                </a:tc>
                <a:tc>
                  <a:txBody>
                    <a:bodyPr/>
                    <a:lstStyle/>
                    <a:p>
                      <a:pPr algn="ctr">
                        <a:spcAft>
                          <a:spcPts val="0"/>
                        </a:spcAft>
                      </a:pPr>
                      <a:r>
                        <a:rPr sz="1100" b="0"/>
                        <a:t>Limited automation and personalized intelligent recommendations.</a:t>
                      </a:r>
                      <a:endParaRPr sz="1100" b="0">
                        <a:latin typeface="Arial"/>
                      </a:endParaRPr>
                    </a:p>
                  </a:txBody>
                  <a:tcPr anchor="ctr"/>
                </a:tc>
                <a:extLst>
                  <a:ext uri="{0D108BD9-81ED-4DB2-BD59-A6C34878D82A}">
                    <a16:rowId xmlns:a16="http://schemas.microsoft.com/office/drawing/2014/main" val="10003"/>
                  </a:ext>
                </a:extLst>
              </a:tr>
              <a:tr h="1143000">
                <a:tc>
                  <a:txBody>
                    <a:bodyPr/>
                    <a:lstStyle/>
                    <a:p>
                      <a:pPr algn="ctr">
                        <a:spcAft>
                          <a:spcPts val="0"/>
                        </a:spcAft>
                      </a:pPr>
                      <a:r>
                        <a:rPr sz="1100" b="0"/>
                        <a:t>9</a:t>
                      </a:r>
                      <a:endParaRPr sz="1100" b="0">
                        <a:latin typeface="Arial"/>
                      </a:endParaRPr>
                    </a:p>
                  </a:txBody>
                  <a:tcPr anchor="ctr"/>
                </a:tc>
                <a:tc>
                  <a:txBody>
                    <a:bodyPr/>
                    <a:lstStyle/>
                    <a:p>
                      <a:pPr algn="ctr">
                        <a:spcAft>
                          <a:spcPts val="0"/>
                        </a:spcAft>
                      </a:pPr>
                      <a:r>
                        <a:rPr sz="1100" b="0"/>
                        <a:t>Personal Financial Management Behavior Using Digital Platforms</a:t>
                      </a:r>
                      <a:endParaRPr sz="1100" b="0">
                        <a:latin typeface="Arial"/>
                      </a:endParaRPr>
                    </a:p>
                  </a:txBody>
                  <a:tcPr anchor="ctr"/>
                </a:tc>
                <a:tc>
                  <a:txBody>
                    <a:bodyPr/>
                    <a:lstStyle/>
                    <a:p>
                      <a:pPr algn="ctr">
                        <a:spcAft>
                          <a:spcPts val="0"/>
                        </a:spcAft>
                      </a:pPr>
                      <a:r>
                        <a:rPr sz="1100" b="0"/>
                        <a:t>Chhillar &amp; Arora</a:t>
                      </a:r>
                      <a:endParaRPr sz="1100" b="0">
                        <a:latin typeface="Arial"/>
                      </a:endParaRPr>
                    </a:p>
                  </a:txBody>
                  <a:tcPr anchor="ctr"/>
                </a:tc>
                <a:tc>
                  <a:txBody>
                    <a:bodyPr/>
                    <a:lstStyle/>
                    <a:p>
                      <a:pPr algn="ctr">
                        <a:spcAft>
                          <a:spcPts val="0"/>
                        </a:spcAft>
                      </a:pPr>
                      <a:r>
                        <a:rPr sz="1100" b="0"/>
                        <a:t>Literature review; empirical analysis; SmartPLS</a:t>
                      </a:r>
                      <a:endParaRPr sz="1100" b="0">
                        <a:latin typeface="Arial"/>
                      </a:endParaRPr>
                    </a:p>
                  </a:txBody>
                  <a:tcPr anchor="ctr"/>
                </a:tc>
                <a:tc>
                  <a:txBody>
                    <a:bodyPr/>
                    <a:lstStyle/>
                    <a:p>
                      <a:pPr algn="ctr">
                        <a:spcAft>
                          <a:spcPts val="0"/>
                        </a:spcAft>
                      </a:pPr>
                      <a:r>
                        <a:rPr sz="1100" b="0"/>
                        <a:t>Identifies major domains of digital financial management.</a:t>
                      </a:r>
                      <a:endParaRPr sz="1100" b="0">
                        <a:latin typeface="Arial"/>
                      </a:endParaRPr>
                    </a:p>
                  </a:txBody>
                  <a:tcPr anchor="ctr"/>
                </a:tc>
                <a:tc>
                  <a:txBody>
                    <a:bodyPr/>
                    <a:lstStyle/>
                    <a:p>
                      <a:pPr algn="ctr">
                        <a:spcAft>
                          <a:spcPts val="0"/>
                        </a:spcAft>
                      </a:pPr>
                      <a:r>
                        <a:rPr sz="1100" b="0"/>
                        <a:t>Does not develop an extensible system integrating these domains.</a:t>
                      </a:r>
                      <a:endParaRPr sz="1100" b="0">
                        <a:latin typeface="Arial"/>
                      </a:endParaRPr>
                    </a:p>
                  </a:txBody>
                  <a:tcPr anchor="ctr"/>
                </a:tc>
                <a:extLst>
                  <a:ext uri="{0D108BD9-81ED-4DB2-BD59-A6C34878D82A}">
                    <a16:rowId xmlns:a16="http://schemas.microsoft.com/office/drawing/2014/main" val="10004"/>
                  </a:ext>
                </a:extLst>
              </a:tr>
              <a:tr h="1143000">
                <a:tc>
                  <a:txBody>
                    <a:bodyPr/>
                    <a:lstStyle/>
                    <a:p>
                      <a:pPr algn="ctr">
                        <a:spcAft>
                          <a:spcPts val="0"/>
                        </a:spcAft>
                      </a:pPr>
                      <a:r>
                        <a:rPr sz="1100" b="0"/>
                        <a:t>10</a:t>
                      </a:r>
                      <a:endParaRPr sz="1100" b="0">
                        <a:latin typeface="Arial"/>
                      </a:endParaRPr>
                    </a:p>
                  </a:txBody>
                  <a:tcPr anchor="ctr"/>
                </a:tc>
                <a:tc>
                  <a:txBody>
                    <a:bodyPr/>
                    <a:lstStyle/>
                    <a:p>
                      <a:pPr algn="ctr">
                        <a:spcAft>
                          <a:spcPts val="0"/>
                        </a:spcAft>
                      </a:pPr>
                      <a:r>
                        <a:rPr sz="1100" b="0"/>
                        <a:t>Personal Financial Management Using Website-Based Digital Image Technology</a:t>
                      </a:r>
                      <a:endParaRPr sz="1100" b="0">
                        <a:latin typeface="Arial"/>
                      </a:endParaRPr>
                    </a:p>
                  </a:txBody>
                  <a:tcPr anchor="ctr"/>
                </a:tc>
                <a:tc>
                  <a:txBody>
                    <a:bodyPr/>
                    <a:lstStyle/>
                    <a:p>
                      <a:pPr algn="ctr">
                        <a:spcAft>
                          <a:spcPts val="0"/>
                        </a:spcAft>
                      </a:pPr>
                      <a:r>
                        <a:rPr sz="1100" b="0"/>
                        <a:t>Purwanto et al.</a:t>
                      </a:r>
                      <a:endParaRPr sz="1100" b="0">
                        <a:latin typeface="Arial"/>
                      </a:endParaRPr>
                    </a:p>
                  </a:txBody>
                  <a:tcPr anchor="ctr"/>
                </a:tc>
                <a:tc>
                  <a:txBody>
                    <a:bodyPr/>
                    <a:lstStyle/>
                    <a:p>
                      <a:pPr algn="ctr">
                        <a:spcAft>
                          <a:spcPts val="0"/>
                        </a:spcAft>
                      </a:pPr>
                      <a:r>
                        <a:rPr sz="1100" b="0"/>
                        <a:t>Agile; UML; digital image processing</a:t>
                      </a:r>
                      <a:endParaRPr sz="1100" b="0">
                        <a:latin typeface="Arial"/>
                      </a:endParaRPr>
                    </a:p>
                  </a:txBody>
                  <a:tcPr anchor="ctr"/>
                </a:tc>
                <a:tc>
                  <a:txBody>
                    <a:bodyPr/>
                    <a:lstStyle/>
                    <a:p>
                      <a:pPr algn="ctr">
                        <a:spcAft>
                          <a:spcPts val="0"/>
                        </a:spcAft>
                      </a:pPr>
                      <a:r>
                        <a:rPr sz="1100" b="0"/>
                        <a:t>Digital-image input can simplify financial data entry.</a:t>
                      </a:r>
                      <a:endParaRPr sz="1100" b="0">
                        <a:latin typeface="Arial"/>
                      </a:endParaRPr>
                    </a:p>
                  </a:txBody>
                  <a:tcPr anchor="ctr"/>
                </a:tc>
                <a:tc>
                  <a:txBody>
                    <a:bodyPr/>
                    <a:lstStyle/>
                    <a:p>
                      <a:pPr algn="ctr">
                        <a:spcAft>
                          <a:spcPts val="0"/>
                        </a:spcAft>
                      </a:pPr>
                      <a:r>
                        <a:rPr sz="1100" b="0" dirty="0"/>
                        <a:t>Focuses on recording/data capture with limited behavioral analytics.</a:t>
                      </a:r>
                      <a:endParaRPr sz="1100" b="0" dirty="0">
                        <a:latin typeface="Arial"/>
                      </a:endParaRPr>
                    </a:p>
                  </a:txBody>
                  <a:tcPr anchor="ctr"/>
                </a:tc>
                <a:extLst>
                  <a:ext uri="{0D108BD9-81ED-4DB2-BD59-A6C34878D82A}">
                    <a16:rowId xmlns:a16="http://schemas.microsoft.com/office/drawing/2014/main" val="10005"/>
                  </a:ext>
                </a:extLst>
              </a:tr>
            </a:tbl>
          </a:graphicData>
        </a:graphic>
      </p:graphicFrame>
      <p:sp>
        <p:nvSpPr>
          <p:cNvPr id="5" name="TextBox 4"/>
          <p:cNvSpPr txBox="1"/>
          <p:nvPr/>
        </p:nvSpPr>
        <p:spPr>
          <a:xfrm>
            <a:off x="274320" y="6309360"/>
            <a:ext cx="11612880" cy="228600"/>
          </a:xfrm>
          <a:prstGeom prst="rect">
            <a:avLst/>
          </a:prstGeom>
          <a:noFill/>
        </p:spPr>
        <p:txBody>
          <a:bodyPr wrap="none">
            <a:spAutoFit/>
          </a:bodyPr>
          <a:lstStyle/>
          <a:p>
            <a:pPr algn="r"/>
            <a:r>
              <a:rPr sz="800">
                <a:latin typeface="Arial"/>
              </a:rPr>
              <a:t>PRC-I  |  2/3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0" y="0"/>
          <a:ext cx="12192001" cy="6858000"/>
        </p:xfrm>
        <a:graphic>
          <a:graphicData uri="http://schemas.openxmlformats.org/drawingml/2006/table">
            <a:tbl>
              <a:tblPr firstRow="1" bandRow="1">
                <a:tableStyleId>{073A0DAA-6AF3-43AB-8588-CEC1D06C72B9}</a:tableStyleId>
              </a:tblPr>
              <a:tblGrid>
                <a:gridCol w="456131">
                  <a:extLst>
                    <a:ext uri="{9D8B030D-6E8A-4147-A177-3AD203B41FA5}">
                      <a16:colId xmlns:a16="http://schemas.microsoft.com/office/drawing/2014/main" val="20000"/>
                    </a:ext>
                  </a:extLst>
                </a:gridCol>
                <a:gridCol w="2138114">
                  <a:extLst>
                    <a:ext uri="{9D8B030D-6E8A-4147-A177-3AD203B41FA5}">
                      <a16:colId xmlns:a16="http://schemas.microsoft.com/office/drawing/2014/main" val="20001"/>
                    </a:ext>
                  </a:extLst>
                </a:gridCol>
                <a:gridCol w="1282869">
                  <a:extLst>
                    <a:ext uri="{9D8B030D-6E8A-4147-A177-3AD203B41FA5}">
                      <a16:colId xmlns:a16="http://schemas.microsoft.com/office/drawing/2014/main" val="20002"/>
                    </a:ext>
                  </a:extLst>
                </a:gridCol>
                <a:gridCol w="1948058">
                  <a:extLst>
                    <a:ext uri="{9D8B030D-6E8A-4147-A177-3AD203B41FA5}">
                      <a16:colId xmlns:a16="http://schemas.microsoft.com/office/drawing/2014/main" val="20003"/>
                    </a:ext>
                  </a:extLst>
                </a:gridCol>
                <a:gridCol w="2090601">
                  <a:extLst>
                    <a:ext uri="{9D8B030D-6E8A-4147-A177-3AD203B41FA5}">
                      <a16:colId xmlns:a16="http://schemas.microsoft.com/office/drawing/2014/main" val="20004"/>
                    </a:ext>
                  </a:extLst>
                </a:gridCol>
                <a:gridCol w="4276228">
                  <a:extLst>
                    <a:ext uri="{9D8B030D-6E8A-4147-A177-3AD203B41FA5}">
                      <a16:colId xmlns:a16="http://schemas.microsoft.com/office/drawing/2014/main" val="20005"/>
                    </a:ext>
                  </a:extLst>
                </a:gridCol>
              </a:tblGrid>
              <a:tr h="1143000">
                <a:tc>
                  <a:txBody>
                    <a:bodyPr/>
                    <a:lstStyle/>
                    <a:p>
                      <a:pPr algn="ctr">
                        <a:spcAft>
                          <a:spcPts val="0"/>
                        </a:spcAft>
                      </a:pPr>
                      <a:r>
                        <a:rPr sz="1100" b="1"/>
                        <a:t>S.No.</a:t>
                      </a:r>
                      <a:endParaRPr sz="1100" b="1">
                        <a:latin typeface="Arial"/>
                      </a:endParaRPr>
                    </a:p>
                  </a:txBody>
                  <a:tcPr anchor="ctr"/>
                </a:tc>
                <a:tc>
                  <a:txBody>
                    <a:bodyPr/>
                    <a:lstStyle/>
                    <a:p>
                      <a:pPr algn="ctr">
                        <a:spcAft>
                          <a:spcPts val="0"/>
                        </a:spcAft>
                      </a:pPr>
                      <a:r>
                        <a:rPr sz="1100" b="1"/>
                        <a:t>Paper Title</a:t>
                      </a:r>
                      <a:endParaRPr sz="1100" b="1">
                        <a:latin typeface="Arial"/>
                      </a:endParaRPr>
                    </a:p>
                  </a:txBody>
                  <a:tcPr anchor="ctr"/>
                </a:tc>
                <a:tc>
                  <a:txBody>
                    <a:bodyPr/>
                    <a:lstStyle/>
                    <a:p>
                      <a:pPr algn="ctr">
                        <a:spcAft>
                          <a:spcPts val="0"/>
                        </a:spcAft>
                      </a:pPr>
                      <a:r>
                        <a:rPr sz="1100" b="1"/>
                        <a:t>Author Name(s)</a:t>
                      </a:r>
                      <a:endParaRPr sz="1100" b="1">
                        <a:latin typeface="Arial"/>
                      </a:endParaRPr>
                    </a:p>
                  </a:txBody>
                  <a:tcPr anchor="ctr"/>
                </a:tc>
                <a:tc>
                  <a:txBody>
                    <a:bodyPr/>
                    <a:lstStyle/>
                    <a:p>
                      <a:pPr algn="ctr">
                        <a:spcAft>
                          <a:spcPts val="0"/>
                        </a:spcAft>
                      </a:pPr>
                      <a:r>
                        <a:rPr sz="1100" b="1"/>
                        <a:t>Methodology / Model Used</a:t>
                      </a:r>
                      <a:endParaRPr sz="1100" b="1">
                        <a:latin typeface="Arial"/>
                      </a:endParaRPr>
                    </a:p>
                  </a:txBody>
                  <a:tcPr anchor="ctr"/>
                </a:tc>
                <a:tc>
                  <a:txBody>
                    <a:bodyPr/>
                    <a:lstStyle/>
                    <a:p>
                      <a:pPr algn="ctr">
                        <a:spcAft>
                          <a:spcPts val="0"/>
                        </a:spcAft>
                      </a:pPr>
                      <a:r>
                        <a:rPr sz="1100" b="1"/>
                        <a:t>Key Findings</a:t>
                      </a:r>
                      <a:endParaRPr sz="1100" b="1">
                        <a:latin typeface="Arial"/>
                      </a:endParaRPr>
                    </a:p>
                  </a:txBody>
                  <a:tcPr anchor="ctr"/>
                </a:tc>
                <a:tc>
                  <a:txBody>
                    <a:bodyPr/>
                    <a:lstStyle/>
                    <a:p>
                      <a:pPr algn="ctr">
                        <a:spcAft>
                          <a:spcPts val="0"/>
                        </a:spcAft>
                      </a:pPr>
                      <a:r>
                        <a:rPr sz="1100" b="1" dirty="0"/>
                        <a:t>Research Gap Identified</a:t>
                      </a:r>
                      <a:endParaRPr sz="1100" b="1" dirty="0">
                        <a:latin typeface="Arial"/>
                      </a:endParaRPr>
                    </a:p>
                  </a:txBody>
                  <a:tcPr anchor="ctr"/>
                </a:tc>
                <a:extLst>
                  <a:ext uri="{0D108BD9-81ED-4DB2-BD59-A6C34878D82A}">
                    <a16:rowId xmlns:a16="http://schemas.microsoft.com/office/drawing/2014/main" val="10000"/>
                  </a:ext>
                </a:extLst>
              </a:tr>
              <a:tr h="1143000">
                <a:tc>
                  <a:txBody>
                    <a:bodyPr/>
                    <a:lstStyle/>
                    <a:p>
                      <a:pPr algn="ctr">
                        <a:spcAft>
                          <a:spcPts val="0"/>
                        </a:spcAft>
                      </a:pPr>
                      <a:r>
                        <a:rPr sz="1100" b="0"/>
                        <a:t>11</a:t>
                      </a:r>
                      <a:endParaRPr sz="1100" b="0">
                        <a:latin typeface="Arial"/>
                      </a:endParaRPr>
                    </a:p>
                  </a:txBody>
                  <a:tcPr anchor="ctr"/>
                </a:tc>
                <a:tc>
                  <a:txBody>
                    <a:bodyPr/>
                    <a:lstStyle/>
                    <a:p>
                      <a:pPr algn="ctr">
                        <a:spcAft>
                          <a:spcPts val="0"/>
                        </a:spcAft>
                      </a:pPr>
                      <a:r>
                        <a:rPr sz="1100" b="0"/>
                        <a:t>WONGA: The Future of Personal Finance Management</a:t>
                      </a:r>
                      <a:endParaRPr sz="1100" b="0">
                        <a:latin typeface="Arial"/>
                      </a:endParaRPr>
                    </a:p>
                  </a:txBody>
                  <a:tcPr anchor="ctr"/>
                </a:tc>
                <a:tc>
                  <a:txBody>
                    <a:bodyPr/>
                    <a:lstStyle/>
                    <a:p>
                      <a:pPr algn="ctr">
                        <a:spcAft>
                          <a:spcPts val="0"/>
                        </a:spcAft>
                      </a:pPr>
                      <a:r>
                        <a:rPr sz="1100" b="0"/>
                        <a:t>Uyanahewa et al.</a:t>
                      </a:r>
                      <a:endParaRPr sz="1100" b="0">
                        <a:latin typeface="Arial"/>
                      </a:endParaRPr>
                    </a:p>
                  </a:txBody>
                  <a:tcPr anchor="ctr"/>
                </a:tc>
                <a:tc>
                  <a:txBody>
                    <a:bodyPr/>
                    <a:lstStyle/>
                    <a:p>
                      <a:pPr algn="ctr">
                        <a:spcAft>
                          <a:spcPts val="0"/>
                        </a:spcAft>
                      </a:pPr>
                      <a:r>
                        <a:rPr sz="1100" b="0" dirty="0"/>
                        <a:t>NLP; Regex; ANN; CNN; image processing</a:t>
                      </a:r>
                      <a:endParaRPr sz="1100" b="0" dirty="0">
                        <a:latin typeface="Arial"/>
                      </a:endParaRPr>
                    </a:p>
                  </a:txBody>
                  <a:tcPr anchor="ctr"/>
                </a:tc>
                <a:tc>
                  <a:txBody>
                    <a:bodyPr/>
                    <a:lstStyle/>
                    <a:p>
                      <a:pPr algn="ctr">
                        <a:spcAft>
                          <a:spcPts val="0"/>
                        </a:spcAft>
                      </a:pPr>
                      <a:r>
                        <a:rPr sz="1100" b="0"/>
                        <a:t>Automates expense tracking, classification, budgeting and prediction.</a:t>
                      </a:r>
                      <a:endParaRPr sz="1100" b="0">
                        <a:latin typeface="Arial"/>
                      </a:endParaRPr>
                    </a:p>
                  </a:txBody>
                  <a:tcPr anchor="ctr"/>
                </a:tc>
                <a:tc>
                  <a:txBody>
                    <a:bodyPr/>
                    <a:lstStyle/>
                    <a:p>
                      <a:pPr algn="ctr">
                        <a:spcAft>
                          <a:spcPts val="0"/>
                        </a:spcAft>
                      </a:pPr>
                      <a:r>
                        <a:rPr sz="1100" b="0"/>
                        <a:t>Needs broader extensibility and stronger integration of analytics with personalized decision support.</a:t>
                      </a:r>
                      <a:endParaRPr sz="1100" b="0">
                        <a:latin typeface="Arial"/>
                      </a:endParaRPr>
                    </a:p>
                  </a:txBody>
                  <a:tcPr anchor="ctr"/>
                </a:tc>
                <a:extLst>
                  <a:ext uri="{0D108BD9-81ED-4DB2-BD59-A6C34878D82A}">
                    <a16:rowId xmlns:a16="http://schemas.microsoft.com/office/drawing/2014/main" val="10001"/>
                  </a:ext>
                </a:extLst>
              </a:tr>
              <a:tr h="1143000">
                <a:tc>
                  <a:txBody>
                    <a:bodyPr/>
                    <a:lstStyle/>
                    <a:p>
                      <a:pPr algn="ctr">
                        <a:spcAft>
                          <a:spcPts val="0"/>
                        </a:spcAft>
                      </a:pPr>
                      <a:r>
                        <a:rPr sz="1100" b="0"/>
                        <a:t>12</a:t>
                      </a:r>
                      <a:endParaRPr sz="1100" b="0">
                        <a:latin typeface="Arial"/>
                      </a:endParaRPr>
                    </a:p>
                  </a:txBody>
                  <a:tcPr anchor="ctr"/>
                </a:tc>
                <a:tc>
                  <a:txBody>
                    <a:bodyPr/>
                    <a:lstStyle/>
                    <a:p>
                      <a:pPr algn="ctr">
                        <a:spcAft>
                          <a:spcPts val="0"/>
                        </a:spcAft>
                      </a:pPr>
                      <a:r>
                        <a:rPr sz="1100" b="0"/>
                        <a:t>Comparison of Android-Based Personal Financial Management Applications</a:t>
                      </a:r>
                      <a:endParaRPr sz="1100" b="0">
                        <a:latin typeface="Arial"/>
                      </a:endParaRPr>
                    </a:p>
                  </a:txBody>
                  <a:tcPr anchor="ctr"/>
                </a:tc>
                <a:tc>
                  <a:txBody>
                    <a:bodyPr/>
                    <a:lstStyle/>
                    <a:p>
                      <a:pPr algn="ctr">
                        <a:spcAft>
                          <a:spcPts val="0"/>
                        </a:spcAft>
                      </a:pPr>
                      <a:r>
                        <a:rPr sz="1100" b="0"/>
                        <a:t>Liana Dewi</a:t>
                      </a:r>
                      <a:endParaRPr sz="1100" b="0">
                        <a:latin typeface="Arial"/>
                      </a:endParaRPr>
                    </a:p>
                  </a:txBody>
                  <a:tcPr anchor="ctr"/>
                </a:tc>
                <a:tc>
                  <a:txBody>
                    <a:bodyPr/>
                    <a:lstStyle/>
                    <a:p>
                      <a:pPr algn="ctr">
                        <a:spcAft>
                          <a:spcPts val="0"/>
                        </a:spcAft>
                      </a:pPr>
                      <a:r>
                        <a:rPr sz="1100" b="0"/>
                        <a:t>Comparative application analysis</a:t>
                      </a:r>
                      <a:endParaRPr sz="1100" b="0">
                        <a:latin typeface="Arial"/>
                      </a:endParaRPr>
                    </a:p>
                  </a:txBody>
                  <a:tcPr anchor="ctr"/>
                </a:tc>
                <a:tc>
                  <a:txBody>
                    <a:bodyPr/>
                    <a:lstStyle/>
                    <a:p>
                      <a:pPr algn="ctr">
                        <a:spcAft>
                          <a:spcPts val="0"/>
                        </a:spcAft>
                      </a:pPr>
                      <a:r>
                        <a:rPr sz="1100" b="0"/>
                        <a:t>Existing apps provide different functionality under varying financial conditions.</a:t>
                      </a:r>
                      <a:endParaRPr sz="1100" b="0">
                        <a:latin typeface="Arial"/>
                      </a:endParaRPr>
                    </a:p>
                  </a:txBody>
                  <a:tcPr anchor="ctr"/>
                </a:tc>
                <a:tc>
                  <a:txBody>
                    <a:bodyPr/>
                    <a:lstStyle/>
                    <a:p>
                      <a:pPr algn="ctr">
                        <a:spcAft>
                          <a:spcPts val="0"/>
                        </a:spcAft>
                      </a:pPr>
                      <a:r>
                        <a:rPr sz="1100" b="0"/>
                        <a:t>Limited adaptation to changing financial conditions and intelligent analysis.</a:t>
                      </a:r>
                      <a:endParaRPr sz="1100" b="0">
                        <a:latin typeface="Arial"/>
                      </a:endParaRPr>
                    </a:p>
                  </a:txBody>
                  <a:tcPr anchor="ctr"/>
                </a:tc>
                <a:extLst>
                  <a:ext uri="{0D108BD9-81ED-4DB2-BD59-A6C34878D82A}">
                    <a16:rowId xmlns:a16="http://schemas.microsoft.com/office/drawing/2014/main" val="10002"/>
                  </a:ext>
                </a:extLst>
              </a:tr>
              <a:tr h="1143000">
                <a:tc>
                  <a:txBody>
                    <a:bodyPr/>
                    <a:lstStyle/>
                    <a:p>
                      <a:pPr algn="ctr">
                        <a:spcAft>
                          <a:spcPts val="0"/>
                        </a:spcAft>
                      </a:pPr>
                      <a:r>
                        <a:rPr sz="1100" b="0"/>
                        <a:t>13</a:t>
                      </a:r>
                      <a:endParaRPr sz="1100" b="0">
                        <a:latin typeface="Arial"/>
                      </a:endParaRPr>
                    </a:p>
                  </a:txBody>
                  <a:tcPr anchor="ctr"/>
                </a:tc>
                <a:tc>
                  <a:txBody>
                    <a:bodyPr/>
                    <a:lstStyle/>
                    <a:p>
                      <a:pPr algn="ctr">
                        <a:spcAft>
                          <a:spcPts val="0"/>
                        </a:spcAft>
                      </a:pPr>
                      <a:r>
                        <a:rPr sz="1100" b="0"/>
                        <a:t>Applications Supporting Personal Financial Management</a:t>
                      </a:r>
                      <a:endParaRPr sz="1100" b="0">
                        <a:latin typeface="Arial"/>
                      </a:endParaRPr>
                    </a:p>
                  </a:txBody>
                  <a:tcPr anchor="ctr"/>
                </a:tc>
                <a:tc>
                  <a:txBody>
                    <a:bodyPr/>
                    <a:lstStyle/>
                    <a:p>
                      <a:pPr algn="ctr">
                        <a:spcAft>
                          <a:spcPts val="0"/>
                        </a:spcAft>
                      </a:pPr>
                      <a:r>
                        <a:rPr sz="1100" b="0"/>
                        <a:t>Warchlewska &amp; Waliszewski</a:t>
                      </a:r>
                      <a:endParaRPr sz="1100" b="0">
                        <a:latin typeface="Arial"/>
                      </a:endParaRPr>
                    </a:p>
                  </a:txBody>
                  <a:tcPr anchor="ctr"/>
                </a:tc>
                <a:tc>
                  <a:txBody>
                    <a:bodyPr/>
                    <a:lstStyle/>
                    <a:p>
                      <a:pPr algn="ctr">
                        <a:spcAft>
                          <a:spcPts val="0"/>
                        </a:spcAft>
                      </a:pPr>
                      <a:r>
                        <a:rPr sz="1100" b="0"/>
                        <a:t>Application analysis; survey</a:t>
                      </a:r>
                      <a:endParaRPr sz="1100" b="0">
                        <a:latin typeface="Arial"/>
                      </a:endParaRPr>
                    </a:p>
                  </a:txBody>
                  <a:tcPr anchor="ctr"/>
                </a:tc>
                <a:tc>
                  <a:txBody>
                    <a:bodyPr/>
                    <a:lstStyle/>
                    <a:p>
                      <a:pPr algn="ctr">
                        <a:spcAft>
                          <a:spcPts val="0"/>
                        </a:spcAft>
                      </a:pPr>
                      <a:r>
                        <a:rPr sz="1100" b="0"/>
                        <a:t>Examines use of applications for personal financial management.</a:t>
                      </a:r>
                      <a:endParaRPr sz="1100" b="0">
                        <a:latin typeface="Arial"/>
                      </a:endParaRPr>
                    </a:p>
                  </a:txBody>
                  <a:tcPr anchor="ctr"/>
                </a:tc>
                <a:tc>
                  <a:txBody>
                    <a:bodyPr/>
                    <a:lstStyle/>
                    <a:p>
                      <a:pPr algn="ctr">
                        <a:spcAft>
                          <a:spcPts val="0"/>
                        </a:spcAft>
                      </a:pPr>
                      <a:r>
                        <a:rPr sz="1100" b="0"/>
                        <a:t>Focuses on usage/education rather than intelligent personalized decision support.</a:t>
                      </a:r>
                      <a:endParaRPr sz="1100" b="0">
                        <a:latin typeface="Arial"/>
                      </a:endParaRPr>
                    </a:p>
                  </a:txBody>
                  <a:tcPr anchor="ctr"/>
                </a:tc>
                <a:extLst>
                  <a:ext uri="{0D108BD9-81ED-4DB2-BD59-A6C34878D82A}">
                    <a16:rowId xmlns:a16="http://schemas.microsoft.com/office/drawing/2014/main" val="10003"/>
                  </a:ext>
                </a:extLst>
              </a:tr>
              <a:tr h="1143000">
                <a:tc>
                  <a:txBody>
                    <a:bodyPr/>
                    <a:lstStyle/>
                    <a:p>
                      <a:pPr algn="ctr">
                        <a:spcAft>
                          <a:spcPts val="0"/>
                        </a:spcAft>
                      </a:pPr>
                      <a:r>
                        <a:rPr sz="1100" b="0"/>
                        <a:t>14</a:t>
                      </a:r>
                      <a:endParaRPr sz="1100" b="0">
                        <a:latin typeface="Arial"/>
                      </a:endParaRPr>
                    </a:p>
                  </a:txBody>
                  <a:tcPr anchor="ctr"/>
                </a:tc>
                <a:tc>
                  <a:txBody>
                    <a:bodyPr/>
                    <a:lstStyle/>
                    <a:p>
                      <a:pPr algn="ctr">
                        <a:spcAft>
                          <a:spcPts val="0"/>
                        </a:spcAft>
                      </a:pPr>
                      <a:r>
                        <a:rPr sz="1100" b="0"/>
                        <a:t>Mobile Apps and Financial Decision Making</a:t>
                      </a:r>
                      <a:endParaRPr sz="1100" b="0">
                        <a:latin typeface="Arial"/>
                      </a:endParaRPr>
                    </a:p>
                  </a:txBody>
                  <a:tcPr anchor="ctr"/>
                </a:tc>
                <a:tc>
                  <a:txBody>
                    <a:bodyPr/>
                    <a:lstStyle/>
                    <a:p>
                      <a:pPr algn="ctr">
                        <a:spcAft>
                          <a:spcPts val="0"/>
                        </a:spcAft>
                      </a:pPr>
                      <a:r>
                        <a:rPr sz="1100" b="0"/>
                        <a:t>Carlin, Olafsson &amp; Pagel</a:t>
                      </a:r>
                      <a:endParaRPr sz="1100" b="0">
                        <a:latin typeface="Arial"/>
                      </a:endParaRPr>
                    </a:p>
                  </a:txBody>
                  <a:tcPr anchor="ctr"/>
                </a:tc>
                <a:tc>
                  <a:txBody>
                    <a:bodyPr/>
                    <a:lstStyle/>
                    <a:p>
                      <a:pPr algn="ctr">
                        <a:spcAft>
                          <a:spcPts val="0"/>
                        </a:spcAft>
                      </a:pPr>
                      <a:r>
                        <a:rPr sz="1100" b="0"/>
                        <a:t>Empirical analysis of mobile PFM adoption</a:t>
                      </a:r>
                      <a:endParaRPr sz="1100" b="0">
                        <a:latin typeface="Arial"/>
                      </a:endParaRPr>
                    </a:p>
                  </a:txBody>
                  <a:tcPr anchor="ctr"/>
                </a:tc>
                <a:tc>
                  <a:txBody>
                    <a:bodyPr/>
                    <a:lstStyle/>
                    <a:p>
                      <a:pPr algn="ctr">
                        <a:spcAft>
                          <a:spcPts val="0"/>
                        </a:spcAft>
                      </a:pPr>
                      <a:r>
                        <a:rPr sz="1100" b="0"/>
                        <a:t>Mobile access to financial information can influence financial decisions.</a:t>
                      </a:r>
                      <a:endParaRPr sz="1100" b="0">
                        <a:latin typeface="Arial"/>
                      </a:endParaRPr>
                    </a:p>
                  </a:txBody>
                  <a:tcPr anchor="ctr"/>
                </a:tc>
                <a:tc>
                  <a:txBody>
                    <a:bodyPr/>
                    <a:lstStyle/>
                    <a:p>
                      <a:pPr algn="ctr">
                        <a:spcAft>
                          <a:spcPts val="0"/>
                        </a:spcAft>
                      </a:pPr>
                      <a:r>
                        <a:rPr sz="1100" b="0"/>
                        <a:t>Does not provide an integrated analytics and recommendation framework.</a:t>
                      </a:r>
                      <a:endParaRPr sz="1100" b="0">
                        <a:latin typeface="Arial"/>
                      </a:endParaRPr>
                    </a:p>
                  </a:txBody>
                  <a:tcPr anchor="ctr"/>
                </a:tc>
                <a:extLst>
                  <a:ext uri="{0D108BD9-81ED-4DB2-BD59-A6C34878D82A}">
                    <a16:rowId xmlns:a16="http://schemas.microsoft.com/office/drawing/2014/main" val="10004"/>
                  </a:ext>
                </a:extLst>
              </a:tr>
              <a:tr h="1143000">
                <a:tc>
                  <a:txBody>
                    <a:bodyPr/>
                    <a:lstStyle/>
                    <a:p>
                      <a:pPr algn="ctr">
                        <a:spcAft>
                          <a:spcPts val="0"/>
                        </a:spcAft>
                      </a:pPr>
                      <a:r>
                        <a:rPr sz="1100" b="0"/>
                        <a:t>15</a:t>
                      </a:r>
                      <a:endParaRPr sz="1100" b="0">
                        <a:latin typeface="Arial"/>
                      </a:endParaRPr>
                    </a:p>
                  </a:txBody>
                  <a:tcPr anchor="ctr"/>
                </a:tc>
                <a:tc>
                  <a:txBody>
                    <a:bodyPr/>
                    <a:lstStyle/>
                    <a:p>
                      <a:pPr algn="ctr">
                        <a:spcAft>
                          <a:spcPts val="0"/>
                        </a:spcAft>
                      </a:pPr>
                      <a:r>
                        <a:rPr sz="1100" b="0"/>
                        <a:t>Web-Based Personal Finance Management with Interactive Data Visualization</a:t>
                      </a:r>
                      <a:endParaRPr sz="1100" b="0">
                        <a:latin typeface="Arial"/>
                      </a:endParaRPr>
                    </a:p>
                  </a:txBody>
                  <a:tcPr anchor="ctr"/>
                </a:tc>
                <a:tc>
                  <a:txBody>
                    <a:bodyPr/>
                    <a:lstStyle/>
                    <a:p>
                      <a:pPr algn="ctr">
                        <a:spcAft>
                          <a:spcPts val="0"/>
                        </a:spcAft>
                      </a:pPr>
                      <a:r>
                        <a:rPr sz="1100" b="0"/>
                        <a:t>Rahmatullah, Oktavia &amp; Lawrence</a:t>
                      </a:r>
                      <a:endParaRPr sz="1100" b="0">
                        <a:latin typeface="Arial"/>
                      </a:endParaRPr>
                    </a:p>
                  </a:txBody>
                  <a:tcPr anchor="ctr"/>
                </a:tc>
                <a:tc>
                  <a:txBody>
                    <a:bodyPr/>
                    <a:lstStyle/>
                    <a:p>
                      <a:pPr algn="ctr">
                        <a:spcAft>
                          <a:spcPts val="0"/>
                        </a:spcAft>
                      </a:pPr>
                      <a:r>
                        <a:rPr sz="1100" b="0"/>
                        <a:t>Web application; interactive visualization</a:t>
                      </a:r>
                      <a:endParaRPr sz="1100" b="0">
                        <a:latin typeface="Arial"/>
                      </a:endParaRPr>
                    </a:p>
                  </a:txBody>
                  <a:tcPr anchor="ctr"/>
                </a:tc>
                <a:tc>
                  <a:txBody>
                    <a:bodyPr/>
                    <a:lstStyle/>
                    <a:p>
                      <a:pPr algn="ctr">
                        <a:spcAft>
                          <a:spcPts val="0"/>
                        </a:spcAft>
                      </a:pPr>
                      <a:r>
                        <a:rPr sz="1100" b="0"/>
                        <a:t>Supports tracking and visualization of income and expenses.</a:t>
                      </a:r>
                      <a:endParaRPr sz="1100" b="0">
                        <a:latin typeface="Arial"/>
                      </a:endParaRPr>
                    </a:p>
                  </a:txBody>
                  <a:tcPr anchor="ctr"/>
                </a:tc>
                <a:tc>
                  <a:txBody>
                    <a:bodyPr/>
                    <a:lstStyle/>
                    <a:p>
                      <a:pPr algn="ctr">
                        <a:spcAft>
                          <a:spcPts val="0"/>
                        </a:spcAft>
                      </a:pPr>
                      <a:r>
                        <a:rPr sz="1100" b="0" dirty="0"/>
                        <a:t>Strong visualization focus, but limited behavioral analysis and intelligent decision support.</a:t>
                      </a:r>
                      <a:endParaRPr sz="1100" b="0" dirty="0">
                        <a:latin typeface="Arial"/>
                      </a:endParaRP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2164"/>
            <a:ext cx="10173182" cy="1128009"/>
          </a:xfrm>
        </p:spPr>
        <p:txBody>
          <a:bodyPr/>
          <a:lstStyle/>
          <a:p>
            <a:pPr algn="ctr"/>
            <a:r>
              <a:rPr lang="en-IN" b="1" dirty="0">
                <a:latin typeface="Times New Roman" panose="02020603050405020304" pitchFamily="18" charset="0"/>
                <a:cs typeface="Times New Roman" panose="02020603050405020304" pitchFamily="18" charset="0"/>
              </a:rPr>
              <a:t>Innovation, Creativity, and Novelty</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a:bodyPr>
          <a:lstStyle/>
          <a:p>
            <a:pPr eaLnBrk="0" fontAlgn="base" hangingPunct="0">
              <a:lnSpc>
                <a:spcPct val="100000"/>
              </a:lnSpc>
              <a:spcBef>
                <a:spcPct val="0"/>
              </a:spcBef>
              <a:spcAft>
                <a:spcPct val="0"/>
              </a:spcAft>
            </a:pP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22-08-2026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4" name="TextBox 3">
            <a:extLst>
              <a:ext uri="{FF2B5EF4-FFF2-40B4-BE49-F238E27FC236}">
                <a16:creationId xmlns:a16="http://schemas.microsoft.com/office/drawing/2014/main" id="{51EFC2A6-D5E1-4B0E-EBA1-4D4D15920815}"/>
              </a:ext>
            </a:extLst>
          </p:cNvPr>
          <p:cNvSpPr txBox="1"/>
          <p:nvPr/>
        </p:nvSpPr>
        <p:spPr>
          <a:xfrm>
            <a:off x="1299410" y="1044426"/>
            <a:ext cx="9593179" cy="3693319"/>
          </a:xfrm>
          <a:prstGeom prst="rect">
            <a:avLst/>
          </a:prstGeom>
          <a:noFill/>
        </p:spPr>
        <p:txBody>
          <a:bodyPr wrap="square">
            <a:spAutoFit/>
          </a:bodyPr>
          <a:lstStyle/>
          <a:p>
            <a:endParaRPr lang="en-IN" b="1" dirty="0"/>
          </a:p>
          <a:p>
            <a:r>
              <a:rPr lang="en-IN" b="1" dirty="0"/>
              <a:t>Innovation</a:t>
            </a:r>
          </a:p>
          <a:p>
            <a:r>
              <a:rPr lang="en-IN" dirty="0"/>
              <a:t>We integrate expense tracking, visual analytics, spending-pattern analysis, and budgeting into one framework, addressing the limitation of existing systems that mainly provide basic expense recording and reporting.</a:t>
            </a:r>
          </a:p>
          <a:p>
            <a:r>
              <a:rPr lang="en-IN" b="1" dirty="0"/>
              <a:t>Creativity</a:t>
            </a:r>
          </a:p>
          <a:p>
            <a:r>
              <a:rPr lang="en-IN" dirty="0"/>
              <a:t>We transform raw financial data into simple visual insights, personalized alerts, and understandable spending recommendations, helping users identify overspending and make informed financial decisions.</a:t>
            </a:r>
          </a:p>
          <a:p>
            <a:r>
              <a:rPr lang="en-IN" b="1" dirty="0"/>
              <a:t>Novelty</a:t>
            </a:r>
          </a:p>
          <a:p>
            <a:r>
              <a:rPr lang="en-IN" dirty="0"/>
              <a:t>We extend the traditional expense tracker into a modular framework where new capabilities such as spending prediction, anomaly detection, and advanced recommendations can be added without redesigning the complete system.</a:t>
            </a:r>
          </a:p>
        </p:txBody>
      </p:sp>
      <p:sp>
        <p:nvSpPr>
          <p:cNvPr id="11" name="Footer Placeholder 2">
            <a:extLst>
              <a:ext uri="{FF2B5EF4-FFF2-40B4-BE49-F238E27FC236}">
                <a16:creationId xmlns:a16="http://schemas.microsoft.com/office/drawing/2014/main" id="{444AC3EB-3F86-4AA5-854B-7AEEB8EE2B29}"/>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3350041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71374"/>
            <a:ext cx="10173182" cy="1128009"/>
          </a:xfrm>
        </p:spPr>
        <p:txBody>
          <a:bodyPr/>
          <a:lstStyle/>
          <a:p>
            <a:pPr algn="ctr"/>
            <a:r>
              <a:rPr lang="en-IN" b="1" dirty="0">
                <a:latin typeface="Times New Roman" panose="02020603050405020304" pitchFamily="18" charset="0"/>
                <a:cs typeface="Times New Roman" panose="02020603050405020304" pitchFamily="18" charset="0"/>
              </a:rPr>
              <a:t>Feasibility</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fontScale="92500" lnSpcReduction="20000"/>
          </a:bodyPr>
          <a:lstStyle/>
          <a:p>
            <a:pPr>
              <a:buFont typeface="Wingdings" panose="05000000000000000000" pitchFamily="2" charset="2"/>
              <a:buChar char="Ø"/>
            </a:pPr>
            <a:endParaRPr lang="en-IN" sz="2400" dirty="0"/>
          </a:p>
          <a:p>
            <a:pPr>
              <a:buFont typeface="Wingdings" panose="05000000000000000000" pitchFamily="2" charset="2"/>
              <a:buChar char="Ø"/>
            </a:pPr>
            <a:r>
              <a:rPr lang="en-IN" sz="2400" b="1" dirty="0"/>
              <a:t>Technical Feasibility: </a:t>
            </a:r>
            <a:r>
              <a:rPr lang="en-IN" sz="2400" dirty="0"/>
              <a:t>Flutter enables cross-platform development, while Python supports spending analysis, visual analytics, and intelligent insights. A cloud database can store transaction data securely.</a:t>
            </a:r>
          </a:p>
          <a:p>
            <a:pPr>
              <a:buFont typeface="Wingdings" panose="05000000000000000000" pitchFamily="2" charset="2"/>
              <a:buChar char="Ø"/>
            </a:pPr>
            <a:r>
              <a:rPr lang="en-IN" sz="2400" b="1" dirty="0"/>
              <a:t>Data Feasibility :</a:t>
            </a:r>
            <a:r>
              <a:rPr lang="en-IN" sz="2400" dirty="0"/>
              <a:t>The system can work with synthetic or anonymized transaction data containing amount, date, category, payment method, and budget information, making development and testing practical.</a:t>
            </a:r>
          </a:p>
          <a:p>
            <a:pPr>
              <a:buFont typeface="Wingdings" panose="05000000000000000000" pitchFamily="2" charset="2"/>
              <a:buChar char="Ø"/>
            </a:pPr>
            <a:r>
              <a:rPr lang="en-IN" sz="2400" b="1" dirty="0"/>
              <a:t>Operational Feasibility: </a:t>
            </a:r>
            <a:r>
              <a:rPr lang="en-IN" sz="2400" dirty="0"/>
              <a:t>A simple dashboard allows users to record expenses, monitor budgets, understand spending patterns, and receive alerts without requiring financial expertise.</a:t>
            </a:r>
          </a:p>
          <a:p>
            <a:pPr>
              <a:buFont typeface="Wingdings" panose="05000000000000000000" pitchFamily="2" charset="2"/>
              <a:buChar char="Ø"/>
            </a:pPr>
            <a:r>
              <a:rPr lang="en-IN" sz="2400" b="1" dirty="0"/>
              <a:t>Research Feasibility: </a:t>
            </a:r>
            <a:r>
              <a:rPr lang="en-IN" sz="2400" dirty="0"/>
              <a:t>Each major module directly addresses an identified gap:</a:t>
            </a:r>
          </a:p>
          <a:p>
            <a:pPr marL="0" indent="0">
              <a:buNone/>
            </a:pPr>
            <a:r>
              <a:rPr lang="en-IN" sz="2400" dirty="0"/>
              <a:t>      tracking → integration, analytics → enhancement, decision support → personalization,                                                                  extensibility → future extension.</a:t>
            </a:r>
          </a:p>
          <a:p>
            <a:pPr>
              <a:buFont typeface="Wingdings" panose="05000000000000000000" pitchFamily="2" charset="2"/>
              <a:buChar char="Ø"/>
            </a:pPr>
            <a:r>
              <a:rPr lang="en-IN" sz="2400" b="1" dirty="0"/>
              <a:t>Implementation Feasibility : </a:t>
            </a:r>
            <a:r>
              <a:rPr lang="en-IN" sz="2400" dirty="0"/>
              <a:t>The project can be developed incrementally: tracking first, analytics next, intelligent insights after that, followed by testing and evaluation. This keeps the scope achievable within the project timeline.</a:t>
            </a:r>
          </a:p>
          <a:p>
            <a:pPr marL="0" indent="0"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22-08-2026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13</a:t>
            </a:fld>
            <a:endParaRPr lang="en-US" dirty="0"/>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85505740-31D0-4B8F-B93F-9E8CA50A42B9}"/>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89363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BD0E3A0A-6D14-B789-CF5E-E9A586E907BF}"/>
              </a:ext>
            </a:extLst>
          </p:cNvPr>
          <p:cNvPicPr>
            <a:picLocks noGrp="1" noChangeAspect="1"/>
          </p:cNvPicPr>
          <p:nvPr>
            <p:ph idx="1"/>
          </p:nvPr>
        </p:nvPicPr>
        <p:blipFill>
          <a:blip r:embed="rId2"/>
          <a:stretch>
            <a:fillRect/>
          </a:stretch>
        </p:blipFill>
        <p:spPr>
          <a:xfrm>
            <a:off x="0" y="639096"/>
            <a:ext cx="12191999" cy="6218903"/>
          </a:xfrm>
          <a:prstGeom prst="rect">
            <a:avLst/>
          </a:prstGeom>
        </p:spPr>
      </p:pic>
      <p:sp>
        <p:nvSpPr>
          <p:cNvPr id="4" name="Date Placeholder 3">
            <a:extLst>
              <a:ext uri="{FF2B5EF4-FFF2-40B4-BE49-F238E27FC236}">
                <a16:creationId xmlns:a16="http://schemas.microsoft.com/office/drawing/2014/main" id="{F05A9102-B26E-548A-4C6D-BF6E5AF876BD}"/>
              </a:ext>
            </a:extLst>
          </p:cNvPr>
          <p:cNvSpPr>
            <a:spLocks noGrp="1"/>
          </p:cNvSpPr>
          <p:nvPr>
            <p:ph type="dt" sz="half" idx="10"/>
          </p:nvPr>
        </p:nvSpPr>
        <p:spPr/>
        <p:txBody>
          <a:bodyPr/>
          <a:lstStyle/>
          <a:p>
            <a:fld id="{C7A4DE8B-8D6B-8C46-B882-6A2CD2BC96F0}" type="datetime1">
              <a:rPr lang="en-IN" smtClean="0"/>
              <a:t>22-08-2026</a:t>
            </a:fld>
            <a:endParaRPr lang="en-US"/>
          </a:p>
        </p:txBody>
      </p:sp>
      <p:sp>
        <p:nvSpPr>
          <p:cNvPr id="5" name="Footer Placeholder 4">
            <a:extLst>
              <a:ext uri="{FF2B5EF4-FFF2-40B4-BE49-F238E27FC236}">
                <a16:creationId xmlns:a16="http://schemas.microsoft.com/office/drawing/2014/main" id="{DF001962-983D-AFD6-B8E2-F20CF8810A7E}"/>
              </a:ext>
            </a:extLst>
          </p:cNvPr>
          <p:cNvSpPr>
            <a:spLocks noGrp="1"/>
          </p:cNvSpPr>
          <p:nvPr>
            <p:ph type="ftr" sz="quarter" idx="11"/>
          </p:nvPr>
        </p:nvSpPr>
        <p:spPr/>
        <p:txBody>
          <a:bodyPr/>
          <a:lstStyle/>
          <a:p>
            <a:r>
              <a:rPr lang="en-US"/>
              <a:t>REVIEW – 1    Department of CSE</a:t>
            </a:r>
            <a:endParaRPr lang="en-US" dirty="0"/>
          </a:p>
        </p:txBody>
      </p:sp>
      <p:sp>
        <p:nvSpPr>
          <p:cNvPr id="6" name="Slide Number Placeholder 5">
            <a:extLst>
              <a:ext uri="{FF2B5EF4-FFF2-40B4-BE49-F238E27FC236}">
                <a16:creationId xmlns:a16="http://schemas.microsoft.com/office/drawing/2014/main" id="{F0F49894-0333-0DA0-3CC8-F5251E85EDC2}"/>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14175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838200" y="1493134"/>
            <a:ext cx="10515600" cy="4760520"/>
          </a:xfrm>
        </p:spPr>
        <p:txBody>
          <a:bodyPr>
            <a:normAutofit/>
          </a:bodyPr>
          <a:lstStyle/>
          <a:p>
            <a:r>
              <a:rPr lang="en-IN" sz="2400" dirty="0"/>
              <a:t>From our literature study, we found that existing personal finance systems are good at recording expenses, but they do not fully help users understand their spending patterns or provide personalized guidance. This shows a clear need for better analysis and decision support.</a:t>
            </a:r>
          </a:p>
          <a:p>
            <a:r>
              <a:rPr lang="en-IN" sz="2400" dirty="0"/>
              <a:t>Based on these gaps, our proposed framework brings expense tracking, visual analytics, spending analysis, and personalized financial insights together in one system. The framework is also designed to be extensible, so more useful financial features can be added in the future.</a:t>
            </a:r>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22-08-2026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15</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2D31941C-C503-4469-8755-454FE6062E3B}"/>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716463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D4C0B0-C70A-1972-492E-60B0E75414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10373E-14B1-432C-6627-5102E701E54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9" name="Content Placeholder 8">
            <a:extLst>
              <a:ext uri="{FF2B5EF4-FFF2-40B4-BE49-F238E27FC236}">
                <a16:creationId xmlns:a16="http://schemas.microsoft.com/office/drawing/2014/main" id="{820347CC-6603-A42B-AFAE-07AE7DD492A9}"/>
              </a:ext>
            </a:extLst>
          </p:cNvPr>
          <p:cNvSpPr>
            <a:spLocks noGrp="1"/>
          </p:cNvSpPr>
          <p:nvPr>
            <p:ph idx="1"/>
          </p:nvPr>
        </p:nvSpPr>
        <p:spPr>
          <a:xfrm>
            <a:off x="838200" y="1250731"/>
            <a:ext cx="10515600" cy="5002923"/>
          </a:xfrm>
        </p:spPr>
        <p:txBody>
          <a:bodyPr>
            <a:noAutofit/>
          </a:bodyPr>
          <a:lstStyle/>
          <a:p>
            <a:pPr marL="342900" indent="-342900">
              <a:buFont typeface="+mj-lt"/>
              <a:buAutoNum type="arabicPeriod"/>
            </a:pPr>
            <a:r>
              <a:rPr lang="en-IN" sz="1400" dirty="0"/>
              <a:t>B. Walsh and H. N. Lim, “Millennials' adoption of personal financial management (PFM) technology and financial </a:t>
            </a:r>
            <a:r>
              <a:rPr lang="en-IN" sz="1400" dirty="0" err="1"/>
              <a:t>behavior</a:t>
            </a:r>
            <a:r>
              <a:rPr lang="en-IN" sz="1400" dirty="0"/>
              <a:t>,” </a:t>
            </a:r>
            <a:r>
              <a:rPr lang="en-IN" sz="1400" i="1" dirty="0"/>
              <a:t>Financial Planning Review</a:t>
            </a:r>
            <a:r>
              <a:rPr lang="en-IN" sz="1400" dirty="0"/>
              <a:t>, 2020, </a:t>
            </a:r>
            <a:r>
              <a:rPr lang="en-IN" sz="1400" dirty="0" err="1"/>
              <a:t>doi</a:t>
            </a:r>
            <a:r>
              <a:rPr lang="en-IN" sz="1400" dirty="0"/>
              <a:t>: 10.1002/cfp2.1095.</a:t>
            </a:r>
          </a:p>
          <a:p>
            <a:pPr marL="342900" indent="-342900">
              <a:buFont typeface="+mj-lt"/>
              <a:buAutoNum type="arabicPeriod"/>
            </a:pPr>
            <a:r>
              <a:rPr lang="en-IN" sz="1400" dirty="0"/>
              <a:t>M. S. Mahapatra and R. Mishra, “</a:t>
            </a:r>
            <a:r>
              <a:rPr lang="en-IN" sz="1400" dirty="0" err="1"/>
              <a:t>Behavioral</a:t>
            </a:r>
            <a:r>
              <a:rPr lang="en-IN" sz="1400" dirty="0"/>
              <a:t> influence and financial decision of individuals: A study on mental accounting process among Indian households,” </a:t>
            </a:r>
            <a:r>
              <a:rPr lang="en-IN" sz="1400" i="1" dirty="0"/>
              <a:t>Cogent Economics &amp; Finance</a:t>
            </a:r>
            <a:r>
              <a:rPr lang="en-IN" sz="1400" dirty="0"/>
              <a:t>, 2020</a:t>
            </a:r>
          </a:p>
          <a:p>
            <a:pPr marL="342900" indent="-342900">
              <a:buFont typeface="+mj-lt"/>
              <a:buAutoNum type="arabicPeriod"/>
            </a:pPr>
            <a:r>
              <a:rPr lang="en-IN" sz="1400" dirty="0"/>
              <a:t>.D. French, D. McKillop, and E. Stewart, “Personal finance apps and low-income households,” </a:t>
            </a:r>
            <a:r>
              <a:rPr lang="en-IN" sz="1400" i="1" dirty="0"/>
              <a:t>Strategic Change</a:t>
            </a:r>
            <a:r>
              <a:rPr lang="en-IN" sz="1400" dirty="0"/>
              <a:t>, vol. 30, no. 4, pp. 367–375, 2021, </a:t>
            </a:r>
            <a:r>
              <a:rPr lang="en-IN" sz="1400" dirty="0" err="1"/>
              <a:t>doi</a:t>
            </a:r>
            <a:r>
              <a:rPr lang="en-IN" sz="1400" dirty="0"/>
              <a:t>: 10.1002/jsc.2430</a:t>
            </a:r>
          </a:p>
          <a:p>
            <a:pPr marL="342900" indent="-342900">
              <a:buFont typeface="+mj-lt"/>
              <a:buAutoNum type="arabicPeriod"/>
            </a:pPr>
            <a:r>
              <a:rPr lang="en-IN" sz="1400" dirty="0"/>
              <a:t>. N. </a:t>
            </a:r>
            <a:r>
              <a:rPr lang="en-IN" sz="1400" dirty="0" err="1"/>
              <a:t>Tovanich</a:t>
            </a:r>
            <a:r>
              <a:rPr lang="en-IN" sz="1400" dirty="0"/>
              <a:t>, S. </a:t>
            </a:r>
            <a:r>
              <a:rPr lang="en-IN" sz="1400" dirty="0" err="1"/>
              <a:t>Centellegher</a:t>
            </a:r>
            <a:r>
              <a:rPr lang="en-IN" sz="1400" dirty="0"/>
              <a:t>, N. Bennacer </a:t>
            </a:r>
            <a:r>
              <a:rPr lang="en-IN" sz="1400" dirty="0" err="1"/>
              <a:t>Seghouani</a:t>
            </a:r>
            <a:r>
              <a:rPr lang="en-IN" sz="1400" dirty="0"/>
              <a:t>, J. Gladstone, S. Matz, and B. Lepri, “Inferring psychological traits from spending categories and dynamic consumption patterns,” </a:t>
            </a:r>
            <a:r>
              <a:rPr lang="en-IN" sz="1400" i="1" dirty="0"/>
              <a:t>EPJ Data Science</a:t>
            </a:r>
            <a:r>
              <a:rPr lang="en-IN" sz="1400" dirty="0"/>
              <a:t>, vol. 10, art. 24, 2021, </a:t>
            </a:r>
            <a:r>
              <a:rPr lang="en-IN" sz="1400" dirty="0" err="1"/>
              <a:t>doi</a:t>
            </a:r>
            <a:r>
              <a:rPr lang="en-IN" sz="1400" dirty="0"/>
              <a:t>: 10.1140/</a:t>
            </a:r>
            <a:r>
              <a:rPr lang="en-IN" sz="1400" dirty="0" err="1"/>
              <a:t>epjds</a:t>
            </a:r>
            <a:r>
              <a:rPr lang="en-IN" sz="1400" dirty="0"/>
              <a:t>/s13688-021-00281-</a:t>
            </a:r>
          </a:p>
          <a:p>
            <a:pPr marL="342900" indent="-342900">
              <a:buFont typeface="+mj-lt"/>
              <a:buAutoNum type="arabicPeriod"/>
            </a:pPr>
            <a:r>
              <a:rPr lang="en-IN" sz="1400" dirty="0"/>
              <a:t>y. C. Maree and C. W. Omlin, “Understanding spending </a:t>
            </a:r>
            <a:r>
              <a:rPr lang="en-IN" sz="1400" dirty="0" err="1"/>
              <a:t>behavior</a:t>
            </a:r>
            <a:r>
              <a:rPr lang="en-IN" sz="1400" dirty="0"/>
              <a:t>: Recurrent neural network explanation and interpretation,” 20</a:t>
            </a:r>
          </a:p>
          <a:p>
            <a:pPr marL="342900" indent="-342900">
              <a:buFont typeface="+mj-lt"/>
              <a:buAutoNum type="arabicPeriod"/>
            </a:pPr>
            <a:r>
              <a:rPr lang="en-IN" sz="1400" dirty="0"/>
              <a:t>21.M. B. Garcia and J. P. </a:t>
            </a:r>
            <a:r>
              <a:rPr lang="en-IN" sz="1400" dirty="0" err="1"/>
              <a:t>Claour</a:t>
            </a:r>
            <a:r>
              <a:rPr lang="en-IN" sz="1400" dirty="0"/>
              <a:t>, “Mobile Bookkeeper: Personal financial management application with receipt scanner using optical character recognition,” </a:t>
            </a:r>
            <a:r>
              <a:rPr lang="en-IN" sz="1400" i="1" dirty="0"/>
              <a:t>IEEE OT4ME</a:t>
            </a:r>
            <a:r>
              <a:rPr lang="en-IN" sz="1400" dirty="0"/>
              <a:t>, 20</a:t>
            </a:r>
          </a:p>
          <a:p>
            <a:pPr marL="342900" indent="-342900">
              <a:buFont typeface="+mj-lt"/>
              <a:buAutoNum type="arabicPeriod"/>
            </a:pPr>
            <a:r>
              <a:rPr lang="en-IN" sz="1400" dirty="0"/>
              <a:t>21.L. F. Rodrigues </a:t>
            </a:r>
            <a:r>
              <a:rPr lang="en-IN" sz="1400" i="1" dirty="0"/>
              <a:t>et al.</a:t>
            </a:r>
            <a:r>
              <a:rPr lang="en-IN" sz="1400" dirty="0"/>
              <a:t>, “Making finance fun: The gamification of personal financial management apps,” </a:t>
            </a:r>
            <a:r>
              <a:rPr lang="en-IN" sz="1400" i="1" dirty="0"/>
              <a:t>International Journal of Bank Marketing</a:t>
            </a:r>
            <a:r>
              <a:rPr lang="en-IN" sz="1400" dirty="0"/>
              <a:t>, 20</a:t>
            </a:r>
          </a:p>
          <a:p>
            <a:pPr marL="342900" indent="-342900">
              <a:buFont typeface="+mj-lt"/>
              <a:buAutoNum type="arabicPeriod"/>
            </a:pPr>
            <a:r>
              <a:rPr lang="en-IN" sz="1400" dirty="0"/>
              <a:t>21.Y. Hahn, J. Lee, and M. Kim, “Envisioning personal finance and expense tracking for a sustainable future,” </a:t>
            </a:r>
            <a:r>
              <a:rPr lang="en-IN" sz="1400" i="1" dirty="0"/>
              <a:t>DRS2022</a:t>
            </a:r>
            <a:r>
              <a:rPr lang="en-IN" sz="1400" dirty="0"/>
              <a:t>, 20</a:t>
            </a:r>
          </a:p>
          <a:p>
            <a:pPr marL="342900" indent="-342900">
              <a:buFont typeface="+mj-lt"/>
              <a:buAutoNum type="arabicPeriod"/>
            </a:pPr>
            <a:r>
              <a:rPr lang="en-IN" sz="1400" dirty="0"/>
              <a:t>22.N. </a:t>
            </a:r>
            <a:r>
              <a:rPr lang="en-IN" sz="1400" dirty="0" err="1"/>
              <a:t>Chhillar</a:t>
            </a:r>
            <a:r>
              <a:rPr lang="en-IN" sz="1400" dirty="0"/>
              <a:t> and S. Arora, “Personal financial management </a:t>
            </a:r>
            <a:r>
              <a:rPr lang="en-IN" sz="1400" dirty="0" err="1"/>
              <a:t>behavior</a:t>
            </a:r>
            <a:r>
              <a:rPr lang="en-IN" sz="1400" dirty="0"/>
              <a:t> using digital platforms and its domains,” </a:t>
            </a:r>
            <a:r>
              <a:rPr lang="en-IN" sz="1400" i="1" dirty="0"/>
              <a:t>Journal of Financial Management, Markets and Institutions</a:t>
            </a:r>
            <a:r>
              <a:rPr lang="en-IN" sz="1400" dirty="0"/>
              <a:t>, 20</a:t>
            </a:r>
          </a:p>
          <a:p>
            <a:pPr marL="342900" indent="-342900">
              <a:buFont typeface="+mj-lt"/>
              <a:buAutoNum type="arabicPeriod"/>
            </a:pPr>
            <a:r>
              <a:rPr lang="en-IN" sz="1400" dirty="0"/>
              <a:t>22.M. I. R. </a:t>
            </a:r>
            <a:r>
              <a:rPr lang="en-IN" sz="1400" dirty="0" err="1"/>
              <a:t>Uyanahewa</a:t>
            </a:r>
            <a:r>
              <a:rPr lang="en-IN" sz="1400" dirty="0"/>
              <a:t> </a:t>
            </a:r>
            <a:r>
              <a:rPr lang="en-IN" sz="1400" i="1" dirty="0"/>
              <a:t>et al.</a:t>
            </a:r>
            <a:r>
              <a:rPr lang="en-IN" sz="1400" dirty="0"/>
              <a:t>, “WONGA: The future of personal finance management – A machine learning-driven approach for predictive analysis and efficient expense tracking,” </a:t>
            </a:r>
            <a:r>
              <a:rPr lang="en-IN" sz="1400" i="1" dirty="0"/>
              <a:t>IEEE INCET</a:t>
            </a:r>
            <a:r>
              <a:rPr lang="en-IN" sz="1400" dirty="0"/>
              <a:t>, 20</a:t>
            </a:r>
          </a:p>
          <a:p>
            <a:pPr marL="342900" indent="-342900">
              <a:buFont typeface="+mj-lt"/>
              <a:buAutoNum type="arabicPeriod"/>
            </a:pPr>
            <a:r>
              <a:rPr lang="en-IN" sz="1400" dirty="0"/>
              <a:t>23.T. Stefanov, M. Stefanova, S. </a:t>
            </a:r>
            <a:r>
              <a:rPr lang="en-IN" sz="1400" dirty="0" err="1"/>
              <a:t>Varbanova</a:t>
            </a:r>
            <a:r>
              <a:rPr lang="en-IN" sz="1400" dirty="0"/>
              <a:t>, and S. </a:t>
            </a:r>
            <a:r>
              <a:rPr lang="en-IN" sz="1400" dirty="0" err="1"/>
              <a:t>Temelkov</a:t>
            </a:r>
            <a:r>
              <a:rPr lang="en-IN" sz="1400" dirty="0"/>
              <a:t>, “Personal finance management application,” </a:t>
            </a:r>
            <a:r>
              <a:rPr lang="en-IN" sz="1400" i="1" dirty="0"/>
              <a:t>TEM Journal</a:t>
            </a:r>
            <a:r>
              <a:rPr lang="en-IN" sz="1400" dirty="0"/>
              <a:t>, 20</a:t>
            </a:r>
          </a:p>
          <a:p>
            <a:pPr marL="342900" indent="-342900">
              <a:buFont typeface="+mj-lt"/>
              <a:buAutoNum type="arabicPeriod"/>
            </a:pPr>
            <a:r>
              <a:rPr lang="en-IN" sz="1400" dirty="0"/>
              <a:t>24.L. Dewi, “Comparison of Android-based personal financial management applications with variative financial conditions,” </a:t>
            </a:r>
            <a:r>
              <a:rPr lang="en-IN" sz="1400" i="1" dirty="0"/>
              <a:t>JAS</a:t>
            </a:r>
            <a:r>
              <a:rPr lang="en-IN" sz="1400" dirty="0"/>
              <a:t>, 2023.</a:t>
            </a:r>
          </a:p>
        </p:txBody>
      </p:sp>
      <p:sp>
        <p:nvSpPr>
          <p:cNvPr id="5" name="Date Placeholder 4">
            <a:extLst>
              <a:ext uri="{FF2B5EF4-FFF2-40B4-BE49-F238E27FC236}">
                <a16:creationId xmlns:a16="http://schemas.microsoft.com/office/drawing/2014/main" id="{69CF12D2-F1DB-33DA-F2D4-36035A1EBE69}"/>
              </a:ext>
            </a:extLst>
          </p:cNvPr>
          <p:cNvSpPr>
            <a:spLocks noGrp="1"/>
          </p:cNvSpPr>
          <p:nvPr>
            <p:ph type="dt" sz="half" idx="10"/>
          </p:nvPr>
        </p:nvSpPr>
        <p:spPr/>
        <p:txBody>
          <a:bodyPr/>
          <a:lstStyle/>
          <a:p>
            <a:fld id="{196CB346-A29B-614A-90B7-3F58220E4132}" type="datetime1">
              <a:rPr lang="en-IN" smtClean="0"/>
              <a:t>22-08-2026</a:t>
            </a:fld>
            <a:endParaRPr lang="en-US" dirty="0"/>
          </a:p>
        </p:txBody>
      </p:sp>
      <p:sp>
        <p:nvSpPr>
          <p:cNvPr id="7" name="Slide Number Placeholder 6">
            <a:extLst>
              <a:ext uri="{FF2B5EF4-FFF2-40B4-BE49-F238E27FC236}">
                <a16:creationId xmlns:a16="http://schemas.microsoft.com/office/drawing/2014/main" id="{68493559-19B2-50D7-BD0E-0D82C2ADBB1E}"/>
              </a:ext>
            </a:extLst>
          </p:cNvPr>
          <p:cNvSpPr>
            <a:spLocks noGrp="1"/>
          </p:cNvSpPr>
          <p:nvPr>
            <p:ph type="sldNum" sz="quarter" idx="12"/>
          </p:nvPr>
        </p:nvSpPr>
        <p:spPr/>
        <p:txBody>
          <a:bodyPr/>
          <a:lstStyle/>
          <a:p>
            <a:fld id="{B961B71F-4B40-8942-BB88-E0F5C0B46E10}" type="slidenum">
              <a:rPr lang="en-US" smtClean="0"/>
              <a:t>16</a:t>
            </a:fld>
            <a:endParaRPr lang="en-US"/>
          </a:p>
        </p:txBody>
      </p:sp>
      <p:pic>
        <p:nvPicPr>
          <p:cNvPr id="2" name="Picture 1">
            <a:extLst>
              <a:ext uri="{FF2B5EF4-FFF2-40B4-BE49-F238E27FC236}">
                <a16:creationId xmlns:a16="http://schemas.microsoft.com/office/drawing/2014/main" id="{D419C462-DC64-15A1-C950-8DE0A0202034}"/>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2D22C802-FAC0-4996-9438-F4455D720586}"/>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116982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22-08-2026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17</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8" name="Footer Placeholder 2">
            <a:extLst>
              <a:ext uri="{FF2B5EF4-FFF2-40B4-BE49-F238E27FC236}">
                <a16:creationId xmlns:a16="http://schemas.microsoft.com/office/drawing/2014/main" id="{410A2BD5-B048-435C-9BAE-2FCD927007A1}"/>
              </a:ext>
            </a:extLst>
          </p:cNvPr>
          <p:cNvSpPr>
            <a:spLocks noGrp="1"/>
          </p:cNvSpPr>
          <p:nvPr>
            <p:ph type="ftr" sz="quarter" idx="11"/>
          </p:nvPr>
        </p:nvSpPr>
        <p:spPr>
          <a:xfrm>
            <a:off x="4038600" y="6356350"/>
            <a:ext cx="4114800" cy="365125"/>
          </a:xfrm>
        </p:spPr>
        <p:txBody>
          <a:bodyPr/>
          <a:lstStyle/>
          <a:p>
            <a:r>
              <a:rPr lang="en-US" dirty="0"/>
              <a:t>PRC-I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350</TotalTime>
  <Words>2959</Words>
  <Application>Microsoft Office PowerPoint</Application>
  <PresentationFormat>Widescreen</PresentationFormat>
  <Paragraphs>413</Paragraphs>
  <Slides>17</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17</vt:i4>
      </vt:variant>
    </vt:vector>
  </HeadingPairs>
  <TitlesOfParts>
    <vt:vector size="24" baseType="lpstr">
      <vt:lpstr>Arial</vt:lpstr>
      <vt:lpstr>Calibri</vt:lpstr>
      <vt:lpstr>Calibri Light</vt:lpstr>
      <vt:lpstr>Times New Roman</vt:lpstr>
      <vt:lpstr>Wingdings</vt:lpstr>
      <vt:lpstr>Office Theme</vt:lpstr>
      <vt:lpstr>Custom Design</vt:lpstr>
      <vt:lpstr>ENGINEERING CAPSTONE PROJECT – 1/INDUSTRIAL INTERNSHIP/ INDUSTRIAL INTERNSHIP PHASE-I Project Review-1  An Extensible Personal Finance Management Framework for Expense Tracking, Visual Analytics, and Intelligent Decision Support </vt:lpstr>
      <vt:lpstr>OUTLINE</vt:lpstr>
      <vt:lpstr>Introduction</vt:lpstr>
      <vt:lpstr>Problem Statement</vt:lpstr>
      <vt:lpstr>Objectives </vt:lpstr>
      <vt:lpstr>PowerPoint Presentation</vt:lpstr>
      <vt:lpstr>PowerPoint Presentation</vt:lpstr>
      <vt:lpstr>PowerPoint Presentation</vt:lpstr>
      <vt:lpstr>PowerPoint Presentation</vt:lpstr>
      <vt:lpstr>PowerPoint Presentation</vt:lpstr>
      <vt:lpstr>PowerPoint Presentation</vt:lpstr>
      <vt:lpstr>Innovation, Creativity, and Novelty</vt:lpstr>
      <vt:lpstr>Feasibility</vt:lpstr>
      <vt:lpstr>PowerPoint Presentation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Anishq Reddy</cp:lastModifiedBy>
  <cp:revision>199</cp:revision>
  <cp:lastPrinted>2025-06-24T13:51:00Z</cp:lastPrinted>
  <dcterms:created xsi:type="dcterms:W3CDTF">2022-05-20T10:20:00Z</dcterms:created>
  <dcterms:modified xsi:type="dcterms:W3CDTF">2026-08-22T08:04:31Z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8501A877F9FA4B8DAC5FC0ABD71A7E4E_12</vt:lpwstr>
  </property>
  <property fmtid="{D5CDD505-2E9C-101B-9397-08002B2CF9AE}" pid="3" name="KSOProductBuildVer">
    <vt:lpwstr>1033-12.2.0.23196</vt:lpwstr>
  </property>
</Properties>
</file>